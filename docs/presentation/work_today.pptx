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060997b5-a110-2a7a-1364-33d6b54cbf2d}">
          <p14:sldIdLst>
            <p14:sldId id="256"/>
          </p14:sldIdLst>
        </p14:section>
        <p14:section name="Problem" id="{c3adf8ff-3143-0d59-8761-89c3a50f00d0}">
          <p14:sldIdLst>
            <p14:sldId id="257"/>
          </p14:sldIdLst>
        </p14:section>
        <p14:section name="Reader" id="{d72cafc8-f06a-235b-b8bb-2f82b27b50de}">
          <p14:sldIdLst>
            <p14:sldId id="258"/>
            <p14:sldId id="259"/>
          </p14:sldIdLst>
        </p14:section>
        <p14:section name="Built" id="{ede35833-540a-86ec-544f-5e3879a57c53}">
          <p14:sldIdLst>
            <p14:sldId id="260"/>
            <p14:sldId id="261"/>
          </p14:sldIdLst>
        </p14:section>
        <p14:section name="Model" id="{b69689fc-ba12-a3e8-7223-a398801120ea}">
          <p14:sldIdLst>
            <p14:sldId id="262"/>
            <p14:sldId id="263"/>
            <p14:sldId id="264"/>
          </p14:sldIdLst>
        </p14:section>
        <p14:section name="Close" id="{4e60fefd-a1ab-e31a-e52a-c651424003f8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headline: we removed hidden_probs from the answering path and built the ML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flat difficulty result is the strongest evidence, and we found it ourselves.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line: skill is which checks you perform, not how lucky you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two tables: this is the before and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builder is the interesting one: red flags come from the modifications applied.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every phishy reason from the 51 originals now lives.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split is the part people get wrong - holding out rows instead of emails inflates the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0.6 points is the honest headline - the simple model is doing nearly all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before anyone quotes the 92% as a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what is needed for a real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83080"/>
            <a:ext cx="10908792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10908792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03320"/>
            <a:ext cx="981151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1783080"/>
            <a:ext cx="10908792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HIM 1055  ·  PROGRESS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2240280"/>
            <a:ext cx="10908792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Removing the Assumed Numbers</a:t>
            </a:r>
            <a:endParaRPr lang="en-US" dirty="0"/>
          </a:p>
        </p:txBody>
      </p:sp>
      <p:sp>
        <p:nvSpPr>
          <p:cNvPr id="4" name="Text 2"/>
          <p:cNvSpPr/>
          <p:nvPr>
            <p:ph hasCustomPrompt="1"/>
          </p:nvPr>
        </p:nvSpPr>
        <p:spPr>
          <a:xfrm>
            <a:off x="640080" y="3703320"/>
            <a:ext cx="981151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The simulation now decides by reading the email, and a full machine-learning pipeline tests whether any of it generalises</a:t>
            </a:r>
            <a:endParaRPr lang="en-US" dirty="0"/>
          </a:p>
        </p:txBody>
      </p:sp>
      <p:sp>
        <p:nvSpPr>
          <p:cNvPr id="5" name="Text 3"/>
          <p:cNvSpPr/>
          <p:nvPr>
            <p:ph hasCustomPrompt="1"/>
          </p:nvPr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Ashbrook General phishing digital twin   ·   11,244 answers on file</a:t>
            </a:r>
            <a:endParaRPr lang="en-US" dirty="0"/>
          </a:p>
        </p:txBody>
      </p:sp>
      <p:sp>
        <p:nvSpPr>
          <p:cNvPr id="6" name="rule"/>
          <p:cNvSpPr/>
          <p:nvPr/>
        </p:nvSpPr>
        <p:spPr>
          <a:xfrm>
            <a:off x="640080" y="5029200"/>
            <a:ext cx="1463040" cy="45720"/>
          </a:xfrm>
          <a:prstGeom prst="rect">
            <a:avLst/>
          </a:prstGeom>
          <a:solidFill>
            <a:srgbClr val="99001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The problem you identified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Every answer was decided by a number we invented, and the email played no part</a:t>
            </a:r>
            <a:endParaRPr lang="en-US" dirty="0"/>
          </a:p>
        </p:txBody>
      </p:sp>
      <p:sp>
        <p:nvSpPr>
          <p:cNvPr id="4" name="probL"/>
          <p:cNvSpPr/>
          <p:nvPr/>
        </p:nvSpPr>
        <p:spPr>
          <a:xfrm>
            <a:off x="640080" y="178308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FBF2F3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How it used to decide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7744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look up hidden_probs[cue]  =  0.89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nudge for the moment       =  0.95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 roll a die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 under 0.95  -&gt;  clicked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8404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</a:rPr>
              <a:t>The simulated person never read the subject, the sender, or the link. The 0.89 was written before anything ran.</a:t>
            </a:r>
            <a:endParaRPr lang="en-US" sz="1300" dirty="0"/>
          </a:p>
        </p:txBody>
      </p:sp>
      <p:sp>
        <p:nvSpPr>
          <p:cNvPr id="8" name="probR"/>
          <p:cNvSpPr/>
          <p:nvPr/>
        </p:nvSpPr>
        <p:spPr>
          <a:xfrm>
            <a:off x="6263640" y="1783080"/>
            <a:ext cx="5285232" cy="3017520"/>
          </a:xfrm>
          <a:prstGeom prst="roundRect">
            <a:avLst>
              <a:gd name="adj" fmla="val 2424"/>
            </a:avLst>
          </a:prstGeom>
          <a:solidFill>
            <a:srgbClr val="F2F4F8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1965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How we caught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37744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</a:rPr>
              <a:t>Broken down by difficulty, easy and hard emails both came out at 84%.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</a:rPr>
              <a:t>A real reader does clearly better on the obvious ones. A flat result was the proof the data measured nothing.</a:t>
            </a:r>
            <a:endParaRPr lang="en-US" sz="1300" dirty="0"/>
          </a:p>
        </p:txBody>
      </p:sp>
      <p:sp>
        <p:nvSpPr>
          <p:cNvPr id="11" name="probnote"/>
          <p:cNvSpPr/>
          <p:nvPr/>
        </p:nvSpPr>
        <p:spPr>
          <a:xfrm>
            <a:off x="640080" y="498348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1A1F2E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005840" y="498348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Also found: the same person was asked the same email up to 7 times, and answered differently 374 times. Those contradictions are gone.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The fix: a reader that inspects the email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No probability anywhere. Each check either fires or it does not, and every input is a real property of the message</a:t>
            </a:r>
            <a:endParaRPr lang="en-US" dirty="0"/>
          </a:p>
        </p:txBody>
      </p:sp>
      <p:graphicFrame>
        <p:nvGraphicFramePr>
          <p:cNvPr id="4" name="check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28800"/>
          <a:ext cx="103327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2237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checks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Fires when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sender domain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domain is not ashbrookgeneral.example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Reply-To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reply would go somewhere other than From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link text and the destination disagree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attachment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executable or macro file is attached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password or bank detail is asked for behind a link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language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countdown or 'expires today'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name - it went to everyone at once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secrecy, threats, or 'do not reply'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914400" y="4892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3C7E"/>
                </a:solidFill>
              </a:rPr>
              <a:t>People differ by WHICH checks they run - an observable habit, not a hidden number. careless runs 1, average 4, careful all 8.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Difficulty finally separates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The broken signal from before is fixed, because the decision now depends on the email</a:t>
            </a:r>
            <a:endParaRPr lang="en-US" dirty="0"/>
          </a:p>
        </p:txBody>
      </p:sp>
      <p:graphicFrame>
        <p:nvGraphicFramePr>
          <p:cNvPr id="5" name="dif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920240"/>
          <a:ext cx="96012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645920"/>
                <a:gridCol w="2103120"/>
                <a:gridCol w="2103120"/>
                <a:gridCol w="18288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run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Catches easy fakes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Catches hard fakes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careless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careful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diffnote"/>
          <p:cNvSpPr/>
          <p:nvPr/>
        </p:nvSpPr>
        <p:spPr>
          <a:xfrm>
            <a:off x="1280160" y="4023360"/>
            <a:ext cx="960120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645920" y="402336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E"/>
                </a:solidFill>
              </a:rPr>
              <a:t>Before, easy and hard both read 84%. The dice never looked at the email, so the labels predicted nothing.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5166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3C7E"/>
                </a:solidFill>
              </a:rPr>
              <a:t>Every answer is also explainable now: "they only checked the From domain, which was forged - the Reply-To gave it away and they did not look."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Five new modules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The generator now draws from a database, and new emails are composed rather than written</a:t>
            </a:r>
            <a:endParaRPr lang="en-US" dirty="0"/>
          </a:p>
        </p:txBody>
      </p:sp>
      <p:sp>
        <p:nvSpPr>
          <p:cNvPr id="4" name="mod0"/>
          <p:cNvSpPr/>
          <p:nvPr/>
        </p:nvSpPr>
        <p:spPr>
          <a:xfrm>
            <a:off x="640080" y="1783080"/>
            <a:ext cx="1090879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email_db.py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78308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</a:rPr>
              <a:t>A SQLite database of the 51 emails. Queryable: "hard fakes from a forged From line, aimed at billing staff" is one query.</a:t>
            </a:r>
            <a:endParaRPr lang="en-US" sz="1250" dirty="0"/>
          </a:p>
        </p:txBody>
      </p:sp>
      <p:sp>
        <p:nvSpPr>
          <p:cNvPr id="7" name="mod1"/>
          <p:cNvSpPr/>
          <p:nvPr/>
        </p:nvSpPr>
        <p:spPr>
          <a:xfrm>
            <a:off x="640080" y="2651760"/>
            <a:ext cx="10908792" cy="749808"/>
          </a:xfrm>
          <a:prstGeom prst="roundRect">
            <a:avLst>
              <a:gd name="adj" fmla="val 9756"/>
            </a:avLst>
          </a:prstGeom>
          <a:solidFill>
            <a:srgbClr val="F2F4F8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265176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modifications.py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65176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</a:rPr>
              <a:t>17 ways to make an email phishy, in 4 families: address, link, language, structure. Each one knows the red flag it introduces.</a:t>
            </a:r>
            <a:endParaRPr lang="en-US" sz="1250" dirty="0"/>
          </a:p>
        </p:txBody>
      </p:sp>
      <p:sp>
        <p:nvSpPr>
          <p:cNvPr id="10" name="mod2"/>
          <p:cNvSpPr/>
          <p:nvPr/>
        </p:nvSpPr>
        <p:spPr>
          <a:xfrm>
            <a:off x="640080" y="3520440"/>
            <a:ext cx="1090879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352044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email_builder.py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352044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</a:rPr>
              <a:t>Takes a genuine email plus modifications and emits a new phishing email - with its red flags generated, not written.</a:t>
            </a:r>
            <a:endParaRPr lang="en-US" sz="1250" dirty="0"/>
          </a:p>
        </p:txBody>
      </p:sp>
      <p:sp>
        <p:nvSpPr>
          <p:cNvPr id="13" name="mod3"/>
          <p:cNvSpPr/>
          <p:nvPr/>
        </p:nvSpPr>
        <p:spPr>
          <a:xfrm>
            <a:off x="640080" y="4389120"/>
            <a:ext cx="10908792" cy="749808"/>
          </a:xfrm>
          <a:prstGeom prst="roundRect">
            <a:avLst>
              <a:gd name="adj" fmla="val 9756"/>
            </a:avLst>
          </a:prstGeom>
          <a:solidFill>
            <a:srgbClr val="F2F4F8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4400" y="438912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reader.py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438912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</a:rPr>
              <a:t>Decides spam or not spam by inspecting the email. Replaces the dice.</a:t>
            </a:r>
            <a:endParaRPr lang="en-US" sz="1250" dirty="0"/>
          </a:p>
        </p:txBody>
      </p:sp>
      <p:sp>
        <p:nvSpPr>
          <p:cNvPr id="16" name="mod4"/>
          <p:cNvSpPr/>
          <p:nvPr/>
        </p:nvSpPr>
        <p:spPr>
          <a:xfrm>
            <a:off x="640080" y="5257800"/>
            <a:ext cx="1090879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525780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ml_model.py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52578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</a:rPr>
              <a:t>The full machine-learning pipeline: features, split, train, evaluate, compare.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Every way an email is made phishy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17 modifications. Choose some, apply them to a genuine email, and a new fake comes out with its tells already written</a:t>
            </a:r>
            <a:endParaRPr lang="en-US" dirty="0"/>
          </a:p>
        </p:txBody>
      </p:sp>
      <p:sp>
        <p:nvSpPr>
          <p:cNvPr id="4" name="fam0"/>
          <p:cNvSpPr/>
          <p:nvPr/>
        </p:nvSpPr>
        <p:spPr>
          <a:xfrm>
            <a:off x="640080" y="182880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F2F4F8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828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ADDRESS  (8)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82880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2E"/>
                </a:solidFill>
              </a:rPr>
              <a:t>lookalike · typosquat · subdomain misdirection · extra ending · forged From · consumer provider · display-name fraud · unrelated</a:t>
            </a:r>
            <a:endParaRPr lang="en-US" sz="1250" dirty="0"/>
          </a:p>
        </p:txBody>
      </p:sp>
      <p:sp>
        <p:nvSpPr>
          <p:cNvPr id="7" name="fam1"/>
          <p:cNvSpPr/>
          <p:nvPr/>
        </p:nvSpPr>
        <p:spPr>
          <a:xfrm>
            <a:off x="640080" y="2852928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F2F4F8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285292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LINK  (3)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85292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2E"/>
                </a:solidFill>
              </a:rPr>
              <a:t>Reply-To mismatch · hidden link · credential request</a:t>
            </a:r>
            <a:endParaRPr lang="en-US" sz="1250" dirty="0"/>
          </a:p>
        </p:txBody>
      </p:sp>
      <p:sp>
        <p:nvSpPr>
          <p:cNvPr id="10" name="fam2"/>
          <p:cNvSpPr/>
          <p:nvPr/>
        </p:nvSpPr>
        <p:spPr>
          <a:xfrm>
            <a:off x="640080" y="3877056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F2F4F8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60120" y="3877056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415"/>
                </a:solidFill>
              </a:rPr>
              <a:t>LANGUAGE  (3)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3877056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2E"/>
                </a:solidFill>
              </a:rPr>
              <a:t>urgency · pressure and secrecy · misspelling</a:t>
            </a:r>
            <a:endParaRPr lang="en-US" sz="1250" dirty="0"/>
          </a:p>
        </p:txBody>
      </p:sp>
      <p:sp>
        <p:nvSpPr>
          <p:cNvPr id="13" name="fam3"/>
          <p:cNvSpPr/>
          <p:nvPr/>
        </p:nvSpPr>
        <p:spPr>
          <a:xfrm>
            <a:off x="640080" y="4901184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F2F4F8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60120" y="4901184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66"/>
                </a:solidFill>
              </a:rPr>
              <a:t>STRUCTURE  (3)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4901184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2E"/>
                </a:solidFill>
              </a:rPr>
              <a:t>generic greeting · dangerous attachment · no contact details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1206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3C7E"/>
                </a:solidFill>
              </a:rPr>
              <a:t>Apply forged_from and it produces the flag itself: "the From line shows the real domain - a From line can be forged, so it proves nothing."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The machine-learning pipeline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Six stages over 11,244 collected answers</a:t>
            </a:r>
            <a:endParaRPr lang="en-US" dirty="0"/>
          </a:p>
        </p:txBody>
      </p:sp>
      <p:sp>
        <p:nvSpPr>
          <p:cNvPr id="4" name="d11.95"/>
          <p:cNvSpPr/>
          <p:nvPr/>
        </p:nvSpPr>
        <p:spPr>
          <a:xfrm>
            <a:off x="640080" y="1783080"/>
            <a:ext cx="438912" cy="438912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72821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</a:rPr>
              <a:t>Features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209397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15 features: who the person is, what the email looked like</a:t>
            </a:r>
            <a:endParaRPr lang="en-US" sz="1200" dirty="0"/>
          </a:p>
        </p:txBody>
      </p:sp>
      <p:sp>
        <p:nvSpPr>
          <p:cNvPr id="8" name="d21.95"/>
          <p:cNvSpPr/>
          <p:nvPr/>
        </p:nvSpPr>
        <p:spPr>
          <a:xfrm>
            <a:off x="6355080" y="1783080"/>
            <a:ext cx="438912" cy="438912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55080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013448" y="172821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</a:rPr>
              <a:t>Split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013448" y="209397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Whole EMAILS held out, never seen in training - random rows would leak</a:t>
            </a:r>
            <a:endParaRPr lang="en-US" sz="1200" dirty="0"/>
          </a:p>
        </p:txBody>
      </p:sp>
      <p:sp>
        <p:nvSpPr>
          <p:cNvPr id="12" name="d33.45"/>
          <p:cNvSpPr/>
          <p:nvPr/>
        </p:nvSpPr>
        <p:spPr>
          <a:xfrm>
            <a:off x="640080" y="3154680"/>
            <a:ext cx="438912" cy="438912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154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09981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</a:rPr>
              <a:t>Train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346557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Logistic regression, decision tree, random forest</a:t>
            </a:r>
            <a:endParaRPr lang="en-US" sz="1200" dirty="0"/>
          </a:p>
        </p:txBody>
      </p:sp>
      <p:sp>
        <p:nvSpPr>
          <p:cNvPr id="16" name="d43.45"/>
          <p:cNvSpPr/>
          <p:nvPr/>
        </p:nvSpPr>
        <p:spPr>
          <a:xfrm>
            <a:off x="6355080" y="3154680"/>
            <a:ext cx="438912" cy="438912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55080" y="3154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013448" y="309981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</a:rPr>
              <a:t>Evaluate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013448" y="346557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Accuracy, AUC, precision, recall, confusion matrix</a:t>
            </a:r>
            <a:endParaRPr lang="en-US" sz="1200" dirty="0"/>
          </a:p>
        </p:txBody>
      </p:sp>
      <p:sp>
        <p:nvSpPr>
          <p:cNvPr id="20" name="d54.95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447141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</a:rPr>
              <a:t>Compare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98448" y="483717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Against the counting twin, P(click) = a / (a + b)</a:t>
            </a:r>
            <a:endParaRPr lang="en-US" sz="1200" dirty="0"/>
          </a:p>
        </p:txBody>
      </p:sp>
      <p:sp>
        <p:nvSpPr>
          <p:cNvPr id="24" name="d64.95"/>
          <p:cNvSpPr/>
          <p:nvPr/>
        </p:nvSpPr>
        <p:spPr>
          <a:xfrm>
            <a:off x="6355080" y="4526280"/>
            <a:ext cx="438912" cy="438912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55080" y="4526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6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013448" y="447141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</a:rPr>
              <a:t>Inspect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013448" y="483717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Which features the model actually leaned 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The result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Tested on 200 brand new emails neither model had seen - 5,000 predictions</a:t>
            </a:r>
            <a:endParaRPr lang="en-US" dirty="0"/>
          </a:p>
        </p:txBody>
      </p:sp>
      <p:graphicFrame>
        <p:nvGraphicFramePr>
          <p:cNvPr id="9" name="m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1828800"/>
          <a:ext cx="92354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2194560"/>
                <a:gridCol w="20116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answer with the majority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(depth 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headline"/>
          <p:cNvSpPr/>
          <p:nvPr/>
        </p:nvSpPr>
        <p:spPr>
          <a:xfrm>
            <a:off x="1463040" y="3749040"/>
            <a:ext cx="9235440" cy="1371600"/>
          </a:xfrm>
          <a:prstGeom prst="roundRect">
            <a:avLst>
              <a:gd name="adj" fmla="val 5333"/>
            </a:avLst>
          </a:prstGeom>
          <a:solidFill>
            <a:srgbClr val="1A1F2E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828800" y="3749040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8D8"/>
                </a:solidFill>
              </a:rPr>
              <a:t>Counting twin  a / (a + b):  91.6%
</a:t>
            </a:r>
            <a:pPr indent="0" marL="0">
              <a:buNone/>
            </a:pPr>
            <a:r>
              <a:rPr lang="en-US" sz="1500" dirty="0">
                <a:solidFill>
                  <a:srgbClr val="AEB8D8"/>
                </a:solidFill>
              </a:rPr>
              <a:t>Random forest:  92.2%
</a:t>
            </a:r>
            <a:pPr indent="0" marL="0">
              <a:buNone/>
            </a:pPr>
            <a:r>
              <a:rPr lang="en-US" sz="1500" b="1" dirty="0">
                <a:solidFill>
                  <a:srgbClr val="C8A415"/>
                </a:solidFill>
              </a:rPr>
              <a:t>The whole pipeline buys 0.6 points over your one-line formula.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530352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3C7E"/>
                </a:solidFill>
              </a:rPr>
              <a:t>Biggest single feature: the person's awareness level, at 3x the weight of anything about the email.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What these numbers do and do not show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Worth stating plainly before any of this is read as a finding</a:t>
            </a:r>
            <a:endParaRPr lang="en-US" dirty="0"/>
          </a:p>
        </p:txBody>
      </p:sp>
      <p:sp>
        <p:nvSpPr>
          <p:cNvPr id="4" name="doL"/>
          <p:cNvSpPr/>
          <p:nvPr/>
        </p:nvSpPr>
        <p:spPr>
          <a:xfrm>
            <a:off x="640080" y="182880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EEF6F3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11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6"/>
                </a:solidFill>
              </a:rPr>
              <a:t>What is real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2316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</a:rPr>
              <a:t>The pipeline works end to end.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</a:rPr>
              <a:t>The decisions trace to the email, not to a number.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</a:rPr>
              <a:t>Every answer is explainable.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</a:rPr>
              <a:t>Swap in real answers and the same code gives a real result.</a:t>
            </a:r>
            <a:endParaRPr lang="en-US" sz="1300" dirty="0"/>
          </a:p>
        </p:txBody>
      </p:sp>
      <p:sp>
        <p:nvSpPr>
          <p:cNvPr id="7" name="doR"/>
          <p:cNvSpPr/>
          <p:nvPr/>
        </p:nvSpPr>
        <p:spPr>
          <a:xfrm>
            <a:off x="6263640" y="1828800"/>
            <a:ext cx="5285232" cy="3017520"/>
          </a:xfrm>
          <a:prstGeom prst="roundRect">
            <a:avLst>
              <a:gd name="adj" fmla="val 2424"/>
            </a:avLst>
          </a:prstGeom>
          <a:solidFill>
            <a:srgbClr val="FBF2F3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0" y="2011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</a:rPr>
              <a:t>What is not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42316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</a:rPr>
              <a:t>No human produced these labels.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</a:rPr>
              <a:t>The rule reader decided them, so a model trained here is learning to reproduce those rules.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</a:rPr>
              <a:t>92% is not evidence about how people behave.</a:t>
            </a:r>
            <a:endParaRPr lang="en-US" sz="1300" dirty="0"/>
          </a:p>
        </p:txBody>
      </p:sp>
      <p:sp>
        <p:nvSpPr>
          <p:cNvPr id="10" name="caveat"/>
          <p:cNvSpPr/>
          <p:nvPr/>
        </p:nvSpPr>
        <p:spPr>
          <a:xfrm>
            <a:off x="640080" y="502920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1A1F2E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05840" y="502920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The only way to a claim about real people is real people answering. Everything is built and waiting for that.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Where it stands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8D8"/>
                </a:solidFill>
              </a:rPr>
              <a:t>Seven tabs, eleven modules, 11,244 answers - all reproducible from scripts</a:t>
            </a:r>
            <a:endParaRPr lang="en-US" sz="1500" dirty="0"/>
          </a:p>
        </p:txBody>
      </p:sp>
      <p:sp>
        <p:nvSpPr>
          <p:cNvPr id="4" name="n0"/>
          <p:cNvSpPr/>
          <p:nvPr/>
        </p:nvSpPr>
        <p:spPr>
          <a:xfrm>
            <a:off x="640080" y="2194560"/>
            <a:ext cx="5193792" cy="1691640"/>
          </a:xfrm>
          <a:prstGeom prst="roundRect">
            <a:avLst>
              <a:gd name="adj" fmla="val 4324"/>
            </a:avLst>
          </a:prstGeom>
          <a:solidFill>
            <a:srgbClr val="232942"/>
          </a:solidFill>
          <a:ln w="12700">
            <a:solidFill>
              <a:srgbClr val="343B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7552" y="2395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415"/>
                </a:solidFill>
              </a:rPr>
              <a:t>Working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281635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D8"/>
                </a:solidFill>
              </a:rPr>
              <a:t>Spam / not spam judging, per-person scoring, append-only history, six CSVs, live view, and the Model tab that builds new emails and tests everyone on them.</a:t>
            </a:r>
            <a:endParaRPr lang="en-US" sz="1200" dirty="0"/>
          </a:p>
        </p:txBody>
      </p:sp>
      <p:sp>
        <p:nvSpPr>
          <p:cNvPr id="7" name="n1"/>
          <p:cNvSpPr/>
          <p:nvPr/>
        </p:nvSpPr>
        <p:spPr>
          <a:xfrm>
            <a:off x="6355080" y="2194560"/>
            <a:ext cx="5193792" cy="1691640"/>
          </a:xfrm>
          <a:prstGeom prst="roundRect">
            <a:avLst>
              <a:gd name="adj" fmla="val 4324"/>
            </a:avLst>
          </a:prstGeom>
          <a:solidFill>
            <a:srgbClr val="232942"/>
          </a:solidFill>
          <a:ln w="12700">
            <a:solidFill>
              <a:srgbClr val="343B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2552" y="2395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415"/>
                </a:solidFill>
              </a:rPr>
              <a:t>Removed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702552" y="281635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D8"/>
                </a:solidFill>
              </a:rPr>
              <a:t>hidden_probs is no longer in the answering path. The old dice model is still there behind a toggle, labelled.</a:t>
            </a:r>
            <a:endParaRPr lang="en-US" sz="1200" dirty="0"/>
          </a:p>
        </p:txBody>
      </p:sp>
      <p:sp>
        <p:nvSpPr>
          <p:cNvPr id="10" name="n2"/>
          <p:cNvSpPr/>
          <p:nvPr/>
        </p:nvSpPr>
        <p:spPr>
          <a:xfrm>
            <a:off x="640080" y="4160520"/>
            <a:ext cx="5193792" cy="1691640"/>
          </a:xfrm>
          <a:prstGeom prst="roundRect">
            <a:avLst>
              <a:gd name="adj" fmla="val 4324"/>
            </a:avLst>
          </a:prstGeom>
          <a:solidFill>
            <a:srgbClr val="232942"/>
          </a:solidFill>
          <a:ln w="12700">
            <a:solidFill>
              <a:srgbClr val="343B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7552" y="4361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415"/>
                </a:solidFill>
              </a:rPr>
              <a:t>Still open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478231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D8"/>
                </a:solidFill>
              </a:rPr>
              <a:t>Both LLM steps from your diagram: generating the messages, and generating the feedback.</a:t>
            </a:r>
            <a:endParaRPr lang="en-US" sz="1200" dirty="0"/>
          </a:p>
        </p:txBody>
      </p:sp>
      <p:sp>
        <p:nvSpPr>
          <p:cNvPr id="13" name="n3"/>
          <p:cNvSpPr/>
          <p:nvPr/>
        </p:nvSpPr>
        <p:spPr>
          <a:xfrm>
            <a:off x="6355080" y="4160520"/>
            <a:ext cx="5193792" cy="1691640"/>
          </a:xfrm>
          <a:prstGeom prst="roundRect">
            <a:avLst>
              <a:gd name="adj" fmla="val 4324"/>
            </a:avLst>
          </a:prstGeom>
          <a:solidFill>
            <a:srgbClr val="232942"/>
          </a:solidFill>
          <a:ln w="12700">
            <a:solidFill>
              <a:srgbClr val="343B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02552" y="4361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415"/>
                </a:solidFill>
              </a:rPr>
              <a:t>Needed for a real claim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702552" y="478231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D8"/>
                </a:solidFill>
              </a:rPr>
              <a:t>Real people answering. 25 x 51 is 1,275 judgements, or fewer per tester with a balanced sample.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ishing Twin">
  <a:themeElements>
    <a:clrScheme name="Phishing Twin">
      <a:dk1>
        <a:srgbClr val="1A1F2E"/>
      </a:dk1>
      <a:lt1>
        <a:srgbClr val="FFFFFF"/>
      </a:lt1>
      <a:dk2>
        <a:srgbClr val="2F3C7E"/>
      </a:dk2>
      <a:lt2>
        <a:srgbClr val="F2F4F8"/>
      </a:lt2>
      <a:accent1>
        <a:srgbClr val="990011"/>
      </a:accent1>
      <a:accent2>
        <a:srgbClr val="2F3C7E"/>
      </a:accent2>
      <a:accent3>
        <a:srgbClr val="0E7C66"/>
      </a:accent3>
      <a:accent4>
        <a:srgbClr val="C8A415"/>
      </a:accent4>
      <a:accent5>
        <a:srgbClr val="5A6478"/>
      </a:accent5>
      <a:accent6>
        <a:srgbClr val="7A1020"/>
      </a:accent6>
      <a:hlink>
        <a:srgbClr val="2F3C7E"/>
      </a:hlink>
      <a:folHlink>
        <a:srgbClr val="5A6478"/>
      </a:folHlink>
    </a:clrScheme>
    <a:fontScheme name="Phishing Twi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Twin - Progress</dc:title>
  <dc:subject>PptxGenJS Presentation</dc:subject>
  <dc:creator>Vivek Solanki</dc:creator>
  <cp:lastModifiedBy>Vivek Solanki</cp:lastModifiedBy>
  <cp:revision>1</cp:revision>
  <dcterms:created xsi:type="dcterms:W3CDTF">2026-10-26T02:15:28Z</dcterms:created>
  <dcterms:modified xsi:type="dcterms:W3CDTF">2026-10-26T02:15:28Z</dcterms:modified>
</cp:coreProperties>
</file>