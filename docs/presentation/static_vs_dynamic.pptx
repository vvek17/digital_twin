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b23d9883-14b2-1551-7eac-ff13d0ea2b0f}">
          <p14:sldIdLst>
            <p14:sldId id="256"/>
          </p14:sldIdLst>
        </p14:section>
        <p14:section name="Static" id="{eaef49d3-df0c-82d5-c2ad-4f99074bd52a}">
          <p14:sldIdLst>
            <p14:sldId id="257"/>
            <p14:sldId id="258"/>
          </p14:sldIdLst>
        </p14:section>
        <p14:section name="Dynamic" id="{f1d1477a-c136-0d01-9de3-76fd5fe01d3b}">
          <p14:sldIdLst>
            <p14:sldId id="259"/>
            <p14:sldId id="260"/>
            <p14:sldId id="261"/>
          </p14:sldIdLst>
        </p14:section>
        <p14:section name="Compare" id="{e97de1ce-b113-e32c-950e-e3192f05fd36}">
          <p14:sldIdLst>
            <p14:sldId id="262"/>
          </p14:sldIdLst>
        </p14:section>
        <p14:section name="Close" id="{b22842c0-e4db-0411-74f5-fc9baa7152bf}">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emails are now composed rather than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repetition problem is the one that produced contradictory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four fixed values - those become the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 changes the facts; modifications changes what makes it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skeleton, different facts, and five things done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hand-written red flags across the originals. None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replacement - the two do different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LLM seam - that is the next step and it is already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A1F2E"/>
        </a:solidFill>
      </p:bgPr>
    </p:bg>
    <p:spTree>
      <p:nvGrpSpPr>
        <p:cNvPr id="1" name=""/>
        <p:cNvGrpSpPr/>
        <p:nvPr/>
      </p:nvGrpSpPr>
      <p:grpSpPr>
        <a:xfrm>
          <a:off x="0" y="0"/>
          <a:ext cx="0" cy="0"/>
          <a:chOff x="0" y="0"/>
          <a:chExt cx="0" cy="0"/>
        </a:xfrm>
      </p:grpSpPr>
      <p:sp>
        <p:nvSpPr>
          <p:cNvPr id="2" name="Text 0"/>
          <p:cNvSpPr txBox="1"/>
          <p:nvPr/>
        </p:nvSpPr>
        <p:spPr>
          <a:xfrm>
            <a:off x="640080" y="1783080"/>
            <a:ext cx="10908792" cy="320040"/>
          </a:xfrm>
          <a:prstGeom prst="rect">
            <a:avLst/>
          </a:prstGeom>
          <a:noFill/>
          <a:ln/>
        </p:spPr>
        <p:txBody>
          <a:bodyPr wrap="square" rtlCol="0"/>
          <a:lstStyle/>
          <a:p>
            <a:pPr indent="0" marL="0">
              <a:buNone/>
            </a:pPr>
            <a:endParaRPr lang="en-US" sz="1300" dirty="0"/>
          </a:p>
        </p:txBody>
      </p:sp>
      <p:sp>
        <p:nvSpPr>
          <p:cNvPr id="3" name="Text 1"/>
          <p:cNvSpPr txBox="1"/>
          <p:nvPr/>
        </p:nvSpPr>
        <p:spPr>
          <a:xfrm>
            <a:off x="640080" y="2240280"/>
            <a:ext cx="10908792" cy="1371600"/>
          </a:xfrm>
          <a:prstGeom prst="rect">
            <a:avLst/>
          </a:prstGeom>
          <a:noFill/>
          <a:ln/>
        </p:spPr>
        <p:txBody>
          <a:bodyPr wrap="square" rtlCol="0"/>
          <a:lstStyle/>
          <a:p>
            <a:pPr indent="0" marL="0">
              <a:buNone/>
            </a:pPr>
            <a:endParaRPr lang="en-US" sz="4200" dirty="0"/>
          </a:p>
        </p:txBody>
      </p:sp>
      <p:sp>
        <p:nvSpPr>
          <p:cNvPr id="4" name="Text 2"/>
          <p:cNvSpPr txBox="1"/>
          <p:nvPr/>
        </p:nvSpPr>
        <p:spPr>
          <a:xfrm>
            <a:off x="640080" y="3703320"/>
            <a:ext cx="9811512" cy="822960"/>
          </a:xfrm>
          <a:prstGeom prst="rect">
            <a:avLst/>
          </a:prstGeom>
          <a:noFill/>
          <a:ln/>
        </p:spPr>
        <p:txBody>
          <a:bodyPr wrap="square" rtlCol="0"/>
          <a:lstStyle/>
          <a:p>
            <a:pPr indent="0" marL="0">
              <a:buNone/>
            </a:pPr>
            <a:endParaRPr lang="en-US" sz="1800" dirty="0"/>
          </a:p>
        </p:txBody>
      </p:sp>
      <p:sp>
        <p:nvSpPr>
          <p:cNvPr id="5" name="Text 3"/>
          <p:cNvSpPr txBox="1"/>
          <p:nvPr/>
        </p:nvSpPr>
        <p:spPr>
          <a:xfrm>
            <a:off x="640080" y="5806440"/>
            <a:ext cx="10908792" cy="365760"/>
          </a:xfrm>
          <a:prstGeom prst="rect">
            <a:avLst/>
          </a:prstGeom>
          <a:noFill/>
          <a:ln/>
        </p:spPr>
        <p:txBody>
          <a:bodyPr wrap="square" rtlCol="0"/>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658368"/>
          </a:xfrm>
          <a:prstGeom prst="rect">
            <a:avLst/>
          </a:prstGeom>
          <a:noFill/>
          <a:ln/>
        </p:spPr>
        <p:txBody>
          <a:bodyPr wrap="square" rtlCol="0"/>
          <a:lstStyle/>
          <a:p>
            <a:pPr indent="0" marL="0">
              <a:buNone/>
            </a:pPr>
            <a:endParaRPr lang="en-US" sz="3100" dirty="0"/>
          </a:p>
        </p:txBody>
      </p:sp>
      <p:sp>
        <p:nvSpPr>
          <p:cNvPr id="3" name="Text 1"/>
          <p:cNvSpPr txBox="1"/>
          <p:nvPr/>
        </p:nvSpPr>
        <p:spPr>
          <a:xfrm>
            <a:off x="640080" y="1060704"/>
            <a:ext cx="10360152" cy="566928"/>
          </a:xfrm>
          <a:prstGeom prst="rect">
            <a:avLst/>
          </a:prstGeom>
          <a:noFill/>
          <a:ln/>
        </p:spPr>
        <p:txBody>
          <a:bodyPr wrap="square" rtlCol="0"/>
          <a:lstStyle/>
          <a:p>
            <a:pPr indent="0" marL="0">
              <a:buNone/>
            </a:pPr>
            <a:endParaRPr lang="en-US" sz="140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A1F2E"/>
        </a:solidFill>
      </p:bgPr>
    </p:bg>
    <p:spTree>
      <p:nvGrpSpPr>
        <p:cNvPr id="1" name=""/>
        <p:cNvGrpSpPr/>
        <p:nvPr/>
      </p:nvGrpSpPr>
      <p:grpSpPr>
        <a:xfrm>
          <a:off x="0" y="0"/>
          <a:ext cx="0" cy="0"/>
          <a:chOff x="0" y="0"/>
          <a:chExt cx="0" cy="0"/>
        </a:xfrm>
      </p:grpSpPr>
      <p:sp>
        <p:nvSpPr>
          <p:cNvPr id="2" name="Text 0"/>
          <p:cNvSpPr txBox="1"/>
          <p:nvPr/>
        </p:nvSpPr>
        <p:spPr>
          <a:xfrm>
            <a:off x="640080" y="731520"/>
            <a:ext cx="10908792" cy="822960"/>
          </a:xfrm>
          <a:prstGeom prst="rect">
            <a:avLst/>
          </a:prstGeom>
          <a:noFill/>
          <a:ln/>
        </p:spPr>
        <p:txBody>
          <a:bodyPr wrap="square" rtlCol="0"/>
          <a:lstStyle/>
          <a:p>
            <a:pPr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hasCustomPrompt="1"/>
          </p:nvPr>
        </p:nvSpPr>
        <p:spPr>
          <a:xfrm>
            <a:off x="640080" y="1783080"/>
            <a:ext cx="10908792" cy="320040"/>
          </a:xfrm>
          <a:prstGeom prst="rect">
            <a:avLst/>
          </a:prstGeom>
          <a:noFill/>
          <a:ln/>
        </p:spPr>
        <p:txBody>
          <a:bodyPr wrap="square" rtlCol="0"/>
          <a:lstStyle/>
          <a:p>
            <a:pPr indent="0" marL="0">
              <a:buNone/>
            </a:pPr>
            <a:r>
              <a:rPr lang="en-US" dirty="0"/>
              <a:t>HIM 1055  ·  EMAIL GENERATION</a:t>
            </a:r>
            <a:endParaRPr lang="en-US" dirty="0"/>
          </a:p>
        </p:txBody>
      </p:sp>
      <p:sp>
        <p:nvSpPr>
          <p:cNvPr id="3" name="Text 1"/>
          <p:cNvSpPr/>
          <p:nvPr>
            <p:ph hasCustomPrompt="1"/>
          </p:nvPr>
        </p:nvSpPr>
        <p:spPr>
          <a:xfrm>
            <a:off x="640080" y="2240280"/>
            <a:ext cx="10908792" cy="1371600"/>
          </a:xfrm>
          <a:prstGeom prst="rect">
            <a:avLst/>
          </a:prstGeom>
          <a:noFill/>
          <a:ln/>
        </p:spPr>
        <p:txBody>
          <a:bodyPr wrap="square" rtlCol="0"/>
          <a:lstStyle/>
          <a:p>
            <a:pPr indent="0" marL="0">
              <a:buNone/>
            </a:pPr>
            <a:r>
              <a:rPr lang="en-US" dirty="0"/>
              <a:t>From 51 Fixed Emails to Unlimited</a:t>
            </a:r>
            <a:endParaRPr lang="en-US" dirty="0"/>
          </a:p>
        </p:txBody>
      </p:sp>
      <p:sp>
        <p:nvSpPr>
          <p:cNvPr id="4" name="Text 2"/>
          <p:cNvSpPr/>
          <p:nvPr>
            <p:ph hasCustomPrompt="1"/>
          </p:nvPr>
        </p:nvSpPr>
        <p:spPr>
          <a:xfrm>
            <a:off x="640080" y="3703320"/>
            <a:ext cx="9811512" cy="822960"/>
          </a:xfrm>
          <a:prstGeom prst="rect">
            <a:avLst/>
          </a:prstGeom>
          <a:noFill/>
          <a:ln/>
        </p:spPr>
        <p:txBody>
          <a:bodyPr wrap="square" rtlCol="0"/>
          <a:lstStyle/>
          <a:p>
            <a:pPr indent="0" marL="0">
              <a:buNone/>
            </a:pPr>
            <a:r>
              <a:rPr lang="en-US" dirty="0"/>
              <a:t>The same email can no longer be sent twice. Every delivery is assembled fresh from entities and modifications</a:t>
            </a:r>
            <a:endParaRPr lang="en-US" dirty="0"/>
          </a:p>
        </p:txBody>
      </p:sp>
      <p:sp>
        <p:nvSpPr>
          <p:cNvPr id="5" name="Text 3"/>
          <p:cNvSpPr/>
          <p:nvPr>
            <p:ph hasCustomPrompt="1"/>
          </p:nvPr>
        </p:nvSpPr>
        <p:spPr>
          <a:xfrm>
            <a:off x="640080" y="5806440"/>
            <a:ext cx="10908792" cy="365760"/>
          </a:xfrm>
          <a:prstGeom prst="rect">
            <a:avLst/>
          </a:prstGeom>
          <a:noFill/>
          <a:ln/>
        </p:spPr>
        <p:txBody>
          <a:bodyPr wrap="square" rtlCol="0"/>
          <a:lstStyle/>
          <a:p>
            <a:pPr indent="0" marL="0">
              <a:buNone/>
            </a:pPr>
            <a:r>
              <a:rPr lang="en-US" dirty="0"/>
              <a:t>Ashbrook General phishing digital twin</a:t>
            </a:r>
            <a:endParaRPr lang="en-US" dirty="0"/>
          </a:p>
        </p:txBody>
      </p:sp>
      <p:sp>
        <p:nvSpPr>
          <p:cNvPr id="6" name="rule"/>
          <p:cNvSpPr/>
          <p:nvPr/>
        </p:nvSpPr>
        <p:spPr>
          <a:xfrm>
            <a:off x="640080" y="5029200"/>
            <a:ext cx="1463040" cy="45720"/>
          </a:xfrm>
          <a:prstGeom prst="rect">
            <a:avLst/>
          </a:prstGeom>
          <a:solidFill>
            <a:srgbClr val="99001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What we had: 51 fixed emails</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r>
              <a:rPr lang="en-US" dirty="0"/>
              <a:t>Written by hand, stored in a file, and sent over and over</a:t>
            </a:r>
            <a:endParaRPr lang="en-US" dirty="0"/>
          </a:p>
        </p:txBody>
      </p:sp>
      <p:sp>
        <p:nvSpPr>
          <p:cNvPr id="4" name="p0"/>
          <p:cNvSpPr/>
          <p:nvPr/>
        </p:nvSpPr>
        <p:spPr>
          <a:xfrm>
            <a:off x="640080" y="1783080"/>
            <a:ext cx="5193792" cy="1737360"/>
          </a:xfrm>
          <a:prstGeom prst="roundRect">
            <a:avLst>
              <a:gd name="adj" fmla="val 4211"/>
            </a:avLst>
          </a:prstGeom>
          <a:solidFill>
            <a:srgbClr val="F2F4F8"/>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5" name="d12.25"/>
          <p:cNvSpPr/>
          <p:nvPr/>
        </p:nvSpPr>
        <p:spPr>
          <a:xfrm>
            <a:off x="932688" y="2057400"/>
            <a:ext cx="420624" cy="420624"/>
          </a:xfrm>
          <a:prstGeom prst="ellipse">
            <a:avLst/>
          </a:prstGeom>
          <a:solidFill>
            <a:srgbClr val="990011"/>
          </a:solidFill>
          <a:ln/>
        </p:spPr>
      </p:sp>
      <p:sp>
        <p:nvSpPr>
          <p:cNvPr id="6" name="Text 4"/>
          <p:cNvSpPr txBox="1"/>
          <p:nvPr/>
        </p:nvSpPr>
        <p:spPr>
          <a:xfrm>
            <a:off x="932688" y="205740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7" name="Text 5"/>
          <p:cNvSpPr txBox="1"/>
          <p:nvPr/>
        </p:nvSpPr>
        <p:spPr>
          <a:xfrm>
            <a:off x="1508760" y="2039112"/>
            <a:ext cx="4114800" cy="384048"/>
          </a:xfrm>
          <a:prstGeom prst="rect">
            <a:avLst/>
          </a:prstGeom>
          <a:noFill/>
          <a:ln/>
        </p:spPr>
        <p:txBody>
          <a:bodyPr wrap="square" lIns="0" tIns="0" rIns="0" bIns="0" rtlCol="0" anchor="ctr"/>
          <a:lstStyle/>
          <a:p>
            <a:pPr indent="0" marL="0">
              <a:buNone/>
            </a:pPr>
            <a:r>
              <a:rPr lang="en-US" sz="1700" b="1" dirty="0">
                <a:solidFill>
                  <a:srgbClr val="1A1F2E"/>
                </a:solidFill>
              </a:rPr>
              <a:t>Finite</a:t>
            </a:r>
            <a:endParaRPr lang="en-US" sz="1700" dirty="0"/>
          </a:p>
        </p:txBody>
      </p:sp>
      <p:sp>
        <p:nvSpPr>
          <p:cNvPr id="8" name="Text 6"/>
          <p:cNvSpPr txBox="1"/>
          <p:nvPr/>
        </p:nvSpPr>
        <p:spPr>
          <a:xfrm>
            <a:off x="1508760" y="2514600"/>
            <a:ext cx="4069080" cy="868680"/>
          </a:xfrm>
          <a:prstGeom prst="rect">
            <a:avLst/>
          </a:prstGeom>
          <a:noFill/>
          <a:ln/>
        </p:spPr>
        <p:txBody>
          <a:bodyPr wrap="square" lIns="0" tIns="0" rIns="0" bIns="0" rtlCol="0" anchor="ctr"/>
          <a:lstStyle/>
          <a:p>
            <a:pPr indent="0" marL="0">
              <a:buNone/>
            </a:pPr>
            <a:r>
              <a:rPr lang="en-US" sz="1250" dirty="0">
                <a:solidFill>
                  <a:srgbClr val="5A6478"/>
                </a:solidFill>
              </a:rPr>
              <a:t>51 emails, 26 fake and 25 real. Once a person has seen them all, there is nothing left to ask.</a:t>
            </a:r>
            <a:endParaRPr lang="en-US" sz="1250" dirty="0"/>
          </a:p>
        </p:txBody>
      </p:sp>
      <p:sp>
        <p:nvSpPr>
          <p:cNvPr id="9" name="p1"/>
          <p:cNvSpPr/>
          <p:nvPr/>
        </p:nvSpPr>
        <p:spPr>
          <a:xfrm>
            <a:off x="6355080" y="1783080"/>
            <a:ext cx="5193792" cy="1737360"/>
          </a:xfrm>
          <a:prstGeom prst="roundRect">
            <a:avLst>
              <a:gd name="adj" fmla="val 4211"/>
            </a:avLst>
          </a:prstGeom>
          <a:solidFill>
            <a:srgbClr val="F2F4F8"/>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10" name="d22.25"/>
          <p:cNvSpPr/>
          <p:nvPr/>
        </p:nvSpPr>
        <p:spPr>
          <a:xfrm>
            <a:off x="6647688" y="2057400"/>
            <a:ext cx="420624" cy="420624"/>
          </a:xfrm>
          <a:prstGeom prst="ellipse">
            <a:avLst/>
          </a:prstGeom>
          <a:solidFill>
            <a:srgbClr val="990011"/>
          </a:solidFill>
          <a:ln/>
        </p:spPr>
      </p:sp>
      <p:sp>
        <p:nvSpPr>
          <p:cNvPr id="11" name="Text 9"/>
          <p:cNvSpPr txBox="1"/>
          <p:nvPr/>
        </p:nvSpPr>
        <p:spPr>
          <a:xfrm>
            <a:off x="6647688" y="205740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2" name="Text 10"/>
          <p:cNvSpPr txBox="1"/>
          <p:nvPr/>
        </p:nvSpPr>
        <p:spPr>
          <a:xfrm>
            <a:off x="7223760" y="2039112"/>
            <a:ext cx="4114800" cy="384048"/>
          </a:xfrm>
          <a:prstGeom prst="rect">
            <a:avLst/>
          </a:prstGeom>
          <a:noFill/>
          <a:ln/>
        </p:spPr>
        <p:txBody>
          <a:bodyPr wrap="square" lIns="0" tIns="0" rIns="0" bIns="0" rtlCol="0" anchor="ctr"/>
          <a:lstStyle/>
          <a:p>
            <a:pPr indent="0" marL="0">
              <a:buNone/>
            </a:pPr>
            <a:r>
              <a:rPr lang="en-US" sz="1700" b="1" dirty="0">
                <a:solidFill>
                  <a:srgbClr val="1A1F2E"/>
                </a:solidFill>
              </a:rPr>
              <a:t>Repetitive</a:t>
            </a:r>
            <a:endParaRPr lang="en-US" sz="1700" dirty="0"/>
          </a:p>
        </p:txBody>
      </p:sp>
      <p:sp>
        <p:nvSpPr>
          <p:cNvPr id="13" name="Text 11"/>
          <p:cNvSpPr txBox="1"/>
          <p:nvPr/>
        </p:nvSpPr>
        <p:spPr>
          <a:xfrm>
            <a:off x="7223760" y="2514600"/>
            <a:ext cx="4069080" cy="868680"/>
          </a:xfrm>
          <a:prstGeom prst="rect">
            <a:avLst/>
          </a:prstGeom>
          <a:noFill/>
          <a:ln/>
        </p:spPr>
        <p:txBody>
          <a:bodyPr wrap="square" lIns="0" tIns="0" rIns="0" bIns="0" rtlCol="0" anchor="ctr"/>
          <a:lstStyle/>
          <a:p>
            <a:pPr indent="0" marL="0">
              <a:buNone/>
            </a:pPr>
            <a:r>
              <a:rPr lang="en-US" sz="1250" dirty="0">
                <a:solidFill>
                  <a:srgbClr val="5A6478"/>
                </a:solidFill>
              </a:rPr>
              <a:t>At volume the same email reaches the same person again and again - we recorded one arriving 7 times.</a:t>
            </a:r>
            <a:endParaRPr lang="en-US" sz="1250" dirty="0"/>
          </a:p>
        </p:txBody>
      </p:sp>
      <p:sp>
        <p:nvSpPr>
          <p:cNvPr id="14" name="p2"/>
          <p:cNvSpPr/>
          <p:nvPr/>
        </p:nvSpPr>
        <p:spPr>
          <a:xfrm>
            <a:off x="640080" y="3657600"/>
            <a:ext cx="5193792" cy="1737360"/>
          </a:xfrm>
          <a:prstGeom prst="roundRect">
            <a:avLst>
              <a:gd name="adj" fmla="val 4211"/>
            </a:avLst>
          </a:prstGeom>
          <a:solidFill>
            <a:srgbClr val="F2F4F8"/>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15" name="d34.3"/>
          <p:cNvSpPr/>
          <p:nvPr/>
        </p:nvSpPr>
        <p:spPr>
          <a:xfrm>
            <a:off x="932688" y="3931920"/>
            <a:ext cx="420624" cy="420624"/>
          </a:xfrm>
          <a:prstGeom prst="ellipse">
            <a:avLst/>
          </a:prstGeom>
          <a:solidFill>
            <a:srgbClr val="990011"/>
          </a:solidFill>
          <a:ln/>
        </p:spPr>
      </p:sp>
      <p:sp>
        <p:nvSpPr>
          <p:cNvPr id="16" name="Text 14"/>
          <p:cNvSpPr txBox="1"/>
          <p:nvPr/>
        </p:nvSpPr>
        <p:spPr>
          <a:xfrm>
            <a:off x="932688" y="393192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7" name="Text 15"/>
          <p:cNvSpPr txBox="1"/>
          <p:nvPr/>
        </p:nvSpPr>
        <p:spPr>
          <a:xfrm>
            <a:off x="1508760" y="3913632"/>
            <a:ext cx="4114800" cy="384048"/>
          </a:xfrm>
          <a:prstGeom prst="rect">
            <a:avLst/>
          </a:prstGeom>
          <a:noFill/>
          <a:ln/>
        </p:spPr>
        <p:txBody>
          <a:bodyPr wrap="square" lIns="0" tIns="0" rIns="0" bIns="0" rtlCol="0" anchor="ctr"/>
          <a:lstStyle/>
          <a:p>
            <a:pPr indent="0" marL="0">
              <a:buNone/>
            </a:pPr>
            <a:r>
              <a:rPr lang="en-US" sz="1700" b="1" dirty="0">
                <a:solidFill>
                  <a:srgbClr val="1A1F2E"/>
                </a:solidFill>
              </a:rPr>
              <a:t>Memorisable</a:t>
            </a:r>
            <a:endParaRPr lang="en-US" sz="1700" dirty="0"/>
          </a:p>
        </p:txBody>
      </p:sp>
      <p:sp>
        <p:nvSpPr>
          <p:cNvPr id="18" name="Text 16"/>
          <p:cNvSpPr txBox="1"/>
          <p:nvPr/>
        </p:nvSpPr>
        <p:spPr>
          <a:xfrm>
            <a:off x="1508760" y="4389120"/>
            <a:ext cx="4069080" cy="868680"/>
          </a:xfrm>
          <a:prstGeom prst="rect">
            <a:avLst/>
          </a:prstGeom>
          <a:noFill/>
          <a:ln/>
        </p:spPr>
        <p:txBody>
          <a:bodyPr wrap="square" lIns="0" tIns="0" rIns="0" bIns="0" rtlCol="0" anchor="ctr"/>
          <a:lstStyle/>
          <a:p>
            <a:pPr indent="0" marL="0">
              <a:buNone/>
            </a:pPr>
            <a:r>
              <a:rPr lang="en-US" sz="1250" dirty="0">
                <a:solidFill>
                  <a:srgbClr val="5A6478"/>
                </a:solidFill>
              </a:rPr>
              <a:t>A model can learn the email itself rather than what makes it dangerous.</a:t>
            </a:r>
            <a:endParaRPr lang="en-US" sz="1250" dirty="0"/>
          </a:p>
        </p:txBody>
      </p:sp>
      <p:sp>
        <p:nvSpPr>
          <p:cNvPr id="19" name="p3"/>
          <p:cNvSpPr/>
          <p:nvPr/>
        </p:nvSpPr>
        <p:spPr>
          <a:xfrm>
            <a:off x="6355080" y="3657600"/>
            <a:ext cx="5193792" cy="1737360"/>
          </a:xfrm>
          <a:prstGeom prst="roundRect">
            <a:avLst>
              <a:gd name="adj" fmla="val 4211"/>
            </a:avLst>
          </a:prstGeom>
          <a:solidFill>
            <a:srgbClr val="F2F4F8"/>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20" name="d44.3"/>
          <p:cNvSpPr/>
          <p:nvPr/>
        </p:nvSpPr>
        <p:spPr>
          <a:xfrm>
            <a:off x="6647688" y="3931920"/>
            <a:ext cx="420624" cy="420624"/>
          </a:xfrm>
          <a:prstGeom prst="ellipse">
            <a:avLst/>
          </a:prstGeom>
          <a:solidFill>
            <a:srgbClr val="990011"/>
          </a:solidFill>
          <a:ln/>
        </p:spPr>
      </p:sp>
      <p:sp>
        <p:nvSpPr>
          <p:cNvPr id="21" name="Text 19"/>
          <p:cNvSpPr txBox="1"/>
          <p:nvPr/>
        </p:nvSpPr>
        <p:spPr>
          <a:xfrm>
            <a:off x="6647688" y="393192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22" name="Text 20"/>
          <p:cNvSpPr txBox="1"/>
          <p:nvPr/>
        </p:nvSpPr>
        <p:spPr>
          <a:xfrm>
            <a:off x="7223760" y="3913632"/>
            <a:ext cx="4114800" cy="384048"/>
          </a:xfrm>
          <a:prstGeom prst="rect">
            <a:avLst/>
          </a:prstGeom>
          <a:noFill/>
          <a:ln/>
        </p:spPr>
        <p:txBody>
          <a:bodyPr wrap="square" lIns="0" tIns="0" rIns="0" bIns="0" rtlCol="0" anchor="ctr"/>
          <a:lstStyle/>
          <a:p>
            <a:pPr indent="0" marL="0">
              <a:buNone/>
            </a:pPr>
            <a:r>
              <a:rPr lang="en-US" sz="1700" b="1" dirty="0">
                <a:solidFill>
                  <a:srgbClr val="1A1F2E"/>
                </a:solidFill>
              </a:rPr>
              <a:t>Hand-written</a:t>
            </a:r>
            <a:endParaRPr lang="en-US" sz="1700" dirty="0"/>
          </a:p>
        </p:txBody>
      </p:sp>
      <p:sp>
        <p:nvSpPr>
          <p:cNvPr id="23" name="Text 21"/>
          <p:cNvSpPr txBox="1"/>
          <p:nvPr/>
        </p:nvSpPr>
        <p:spPr>
          <a:xfrm>
            <a:off x="7223760" y="4389120"/>
            <a:ext cx="4069080" cy="868680"/>
          </a:xfrm>
          <a:prstGeom prst="rect">
            <a:avLst/>
          </a:prstGeom>
          <a:noFill/>
          <a:ln/>
        </p:spPr>
        <p:txBody>
          <a:bodyPr wrap="square" lIns="0" tIns="0" rIns="0" bIns="0" rtlCol="0" anchor="ctr"/>
          <a:lstStyle/>
          <a:p>
            <a:pPr indent="0" marL="0">
              <a:buNone/>
            </a:pPr>
            <a:r>
              <a:rPr lang="en-US" sz="1250" dirty="0">
                <a:solidFill>
                  <a:srgbClr val="5A6478"/>
                </a:solidFill>
              </a:rPr>
              <a:t>Every red flag typed out by hand. Adding an email means writing it and its tells from scratch.</a:t>
            </a:r>
            <a:endParaRPr lang="en-US" sz="125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What a static email looks like</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r>
              <a:rPr lang="en-US" dirty="0"/>
              <a:t>Email 39 - genuine, fixed wording, fixed facts. Identical every time it is sent</a:t>
            </a:r>
            <a:endParaRPr lang="en-US" dirty="0"/>
          </a:p>
        </p:txBody>
      </p:sp>
      <p:sp>
        <p:nvSpPr>
          <p:cNvPr id="4" name="statemail"/>
          <p:cNvSpPr/>
          <p:nvPr/>
        </p:nvSpPr>
        <p:spPr>
          <a:xfrm>
            <a:off x="640080" y="1783080"/>
            <a:ext cx="6675120" cy="3200400"/>
          </a:xfrm>
          <a:prstGeom prst="roundRect">
            <a:avLst>
              <a:gd name="adj" fmla="val 2286"/>
            </a:avLst>
          </a:prstGeom>
          <a:solidFill>
            <a:srgbClr val="F2F4F8"/>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5" name="Text 3"/>
          <p:cNvSpPr txBox="1"/>
          <p:nvPr/>
        </p:nvSpPr>
        <p:spPr>
          <a:xfrm>
            <a:off x="960120" y="2011680"/>
            <a:ext cx="6126480" cy="2743200"/>
          </a:xfrm>
          <a:prstGeom prst="rect">
            <a:avLst/>
          </a:prstGeom>
          <a:noFill/>
          <a:ln/>
        </p:spPr>
        <p:txBody>
          <a:bodyPr wrap="square" lIns="0" tIns="0" rIns="0" bIns="0" rtlCol="0" anchor="ctr"/>
          <a:lstStyle/>
          <a:p>
            <a:pPr indent="0" marL="0">
              <a:buNone/>
            </a:pPr>
            <a:r>
              <a:rPr lang="en-US" sz="1200" b="1" dirty="0">
                <a:solidFill>
                  <a:srgbClr val="5A6478"/>
                </a:solidFill>
                <a:latin typeface="Courier New" pitchFamily="34" charset="0"/>
                <a:ea typeface="Courier New" pitchFamily="34" charset="-122"/>
                <a:cs typeface="Courier New" pitchFamily="34" charset="-120"/>
              </a:rPr>
              <a:t>From:     </a:t>
            </a:r>
            <a:pPr indent="0" marL="0">
              <a:buNone/>
            </a:pPr>
            <a:r>
              <a:rPr lang="en-US" sz="1200" dirty="0">
                <a:solidFill>
                  <a:srgbClr val="1A1F2E"/>
                </a:solidFill>
                <a:latin typeface="Courier New" pitchFamily="34" charset="0"/>
                <a:ea typeface="Courier New" pitchFamily="34" charset="-122"/>
                <a:cs typeface="Courier New" pitchFamily="34" charset="-120"/>
              </a:rPr>
              <a:t>ap@ashbrookgeneral.example
</a:t>
            </a:r>
            <a:pPr indent="0" marL="0">
              <a:buNone/>
            </a:pPr>
            <a:r>
              <a:rPr lang="en-US" sz="1200" b="1" dirty="0">
                <a:solidFill>
                  <a:srgbClr val="5A6478"/>
                </a:solidFill>
                <a:latin typeface="Courier New" pitchFamily="34" charset="0"/>
                <a:ea typeface="Courier New" pitchFamily="34" charset="-122"/>
                <a:cs typeface="Courier New" pitchFamily="34" charset="-120"/>
              </a:rPr>
              <a:t>Subject:  </a:t>
            </a:r>
            <a:pPr indent="0" marL="0">
              <a:buNone/>
            </a:pPr>
            <a:r>
              <a:rPr lang="en-US" sz="1200" dirty="0">
                <a:solidFill>
                  <a:srgbClr val="1A1F2E"/>
                </a:solidFill>
                <a:latin typeface="Courier New" pitchFamily="34" charset="0"/>
                <a:ea typeface="Courier New" pitchFamily="34" charset="-122"/>
                <a:cs typeface="Courier New" pitchFamily="34" charset="-120"/>
              </a:rPr>
              <a:t>Invoice matched to PO 7731 - ready for approval
</a:t>
            </a:r>
            <a:pPr indent="0" marL="0">
              <a:buNone/>
            </a:pPr>
            <a:r>
              <a:rPr lang="en-US" sz="1200" dirty="0">
                <a:solidFill>
                  <a:srgbClr val="1A1F2E"/>
                </a:solidFill>
                <a:latin typeface="Courier New" pitchFamily="34" charset="0"/>
                <a:ea typeface="Courier New" pitchFamily="34" charset="-122"/>
                <a:cs typeface="Courier New" pitchFamily="34" charset="-120"/>
              </a:rPr>
              <a:t>Hi,</a:t>
            </a:r>
            <a:endParaRPr lang="en-US" sz="1200" dirty="0"/>
          </a:p>
          <a:p>
            <a:pPr indent="0" marL="0">
              <a:buNone/>
            </a:pPr>
            <a:endParaRPr lang="en-US" sz="1200" dirty="0"/>
          </a:p>
          <a:p>
            <a:pPr indent="0" marL="0">
              <a:buNone/>
            </a:pPr>
            <a:r>
              <a:rPr lang="en-US" sz="1200" dirty="0">
                <a:solidFill>
                  <a:srgbClr val="1A1F2E"/>
                </a:solidFill>
                <a:latin typeface="Courier New" pitchFamily="34" charset="0"/>
                <a:ea typeface="Courier New" pitchFamily="34" charset="-122"/>
                <a:cs typeface="Courier New" pitchFamily="34" charset="-120"/>
              </a:rPr>
              <a:t>The invoice from our regular linen supplier has been</a:t>
            </a:r>
            <a:endParaRPr lang="en-US" sz="1200" dirty="0"/>
          </a:p>
          <a:p>
            <a:pPr indent="0" marL="0">
              <a:buNone/>
            </a:pPr>
            <a:r>
              <a:rPr lang="en-US" sz="1200" dirty="0">
                <a:solidFill>
                  <a:srgbClr val="1A1F2E"/>
                </a:solidFill>
                <a:latin typeface="Courier New" pitchFamily="34" charset="0"/>
                <a:ea typeface="Courier New" pitchFamily="34" charset="-122"/>
                <a:cs typeface="Courier New" pitchFamily="34" charset="-120"/>
              </a:rPr>
              <a:t>matched to purchase order 7731 and is queued for your</a:t>
            </a:r>
            <a:endParaRPr lang="en-US" sz="1200" dirty="0"/>
          </a:p>
          <a:p>
            <a:pPr indent="0" marL="0">
              <a:buNone/>
            </a:pPr>
            <a:r>
              <a:rPr lang="en-US" sz="1200" dirty="0">
                <a:solidFill>
                  <a:srgbClr val="1A1F2E"/>
                </a:solidFill>
                <a:latin typeface="Courier New" pitchFamily="34" charset="0"/>
                <a:ea typeface="Courier New" pitchFamily="34" charset="-122"/>
                <a:cs typeface="Courier New" pitchFamily="34" charset="-120"/>
              </a:rPr>
              <a:t>approval in the finance system, as usual.</a:t>
            </a:r>
            <a:endParaRPr lang="en-US" sz="1200" dirty="0"/>
          </a:p>
          <a:p>
            <a:pPr indent="0" marL="0">
              <a:buNone/>
            </a:pPr>
            <a:endParaRPr lang="en-US" sz="1200" dirty="0"/>
          </a:p>
          <a:p>
            <a:pPr indent="0" marL="0">
              <a:buNone/>
            </a:pPr>
            <a:r>
              <a:rPr lang="en-US" sz="1200" dirty="0">
                <a:solidFill>
                  <a:srgbClr val="1A1F2E"/>
                </a:solidFill>
                <a:latin typeface="Courier New" pitchFamily="34" charset="0"/>
                <a:ea typeface="Courier New" pitchFamily="34" charset="-122"/>
                <a:cs typeface="Courier New" pitchFamily="34" charset="-120"/>
              </a:rPr>
              <a:t>No bank details have changed on this one.</a:t>
            </a:r>
            <a:endParaRPr lang="en-US" sz="1200" dirty="0"/>
          </a:p>
          <a:p>
            <a:pPr indent="0" marL="0">
              <a:buNone/>
            </a:pPr>
            <a:endParaRPr lang="en-US" sz="1200" dirty="0"/>
          </a:p>
          <a:p>
            <a:pPr indent="0" marL="0">
              <a:buNone/>
            </a:pPr>
            <a:r>
              <a:rPr lang="en-US" sz="1200" dirty="0">
                <a:solidFill>
                  <a:srgbClr val="1A1F2E"/>
                </a:solidFill>
                <a:latin typeface="Courier New" pitchFamily="34" charset="0"/>
                <a:ea typeface="Courier New" pitchFamily="34" charset="-122"/>
                <a:cs typeface="Courier New" pitchFamily="34" charset="-120"/>
              </a:rPr>
              <a:t>Accounts Payable, extension 4260</a:t>
            </a:r>
            <a:endParaRPr lang="en-US" sz="1200" dirty="0"/>
          </a:p>
        </p:txBody>
      </p:sp>
      <p:sp>
        <p:nvSpPr>
          <p:cNvPr id="6" name="Text 4"/>
          <p:cNvSpPr txBox="1"/>
          <p:nvPr/>
        </p:nvSpPr>
        <p:spPr>
          <a:xfrm>
            <a:off x="7589520" y="1828800"/>
            <a:ext cx="3931920" cy="320040"/>
          </a:xfrm>
          <a:prstGeom prst="rect">
            <a:avLst/>
          </a:prstGeom>
          <a:noFill/>
          <a:ln/>
        </p:spPr>
        <p:txBody>
          <a:bodyPr wrap="square" lIns="0" tIns="0" rIns="0" bIns="0" rtlCol="0" anchor="ctr"/>
          <a:lstStyle/>
          <a:p>
            <a:pPr indent="0" marL="0">
              <a:buNone/>
            </a:pPr>
            <a:r>
              <a:rPr lang="en-US" sz="1500" b="1" dirty="0">
                <a:solidFill>
                  <a:srgbClr val="990011"/>
                </a:solidFill>
              </a:rPr>
              <a:t>Always the same</a:t>
            </a:r>
            <a:endParaRPr lang="en-US" sz="1500" dirty="0"/>
          </a:p>
        </p:txBody>
      </p:sp>
      <p:sp>
        <p:nvSpPr>
          <p:cNvPr id="7" name="Text 5"/>
          <p:cNvSpPr txBox="1"/>
          <p:nvPr/>
        </p:nvSpPr>
        <p:spPr>
          <a:xfrm>
            <a:off x="7589520" y="2240280"/>
            <a:ext cx="3931920" cy="2560320"/>
          </a:xfrm>
          <a:prstGeom prst="rect">
            <a:avLst/>
          </a:prstGeom>
          <a:noFill/>
          <a:ln/>
        </p:spPr>
        <p:txBody>
          <a:bodyPr wrap="square" lIns="0" tIns="0" rIns="0" bIns="0" rtlCol="0" anchor="ctr"/>
          <a:lstStyle/>
          <a:p>
            <a:pPr indent="0" marL="0">
              <a:buNone/>
            </a:pPr>
            <a:r>
              <a:rPr lang="en-US" sz="1300" dirty="0">
                <a:solidFill>
                  <a:srgbClr val="1A1F2E"/>
                </a:solidFill>
              </a:rPr>
              <a:t>PO 7731</a:t>
            </a:r>
            <a:endParaRPr lang="en-US" sz="1300" dirty="0"/>
          </a:p>
          <a:p>
            <a:pPr indent="0" marL="0">
              <a:buNone/>
            </a:pPr>
            <a:r>
              <a:rPr lang="en-US" sz="1300" dirty="0">
                <a:solidFill>
                  <a:srgbClr val="1A1F2E"/>
                </a:solidFill>
              </a:rPr>
              <a:t>finance system</a:t>
            </a:r>
            <a:endParaRPr lang="en-US" sz="1300" dirty="0"/>
          </a:p>
          <a:p>
            <a:pPr indent="0" marL="0">
              <a:buNone/>
            </a:pPr>
            <a:r>
              <a:rPr lang="en-US" sz="1300" dirty="0">
                <a:solidFill>
                  <a:srgbClr val="1A1F2E"/>
                </a:solidFill>
              </a:rPr>
              <a:t>extension 4260</a:t>
            </a:r>
            <a:endParaRPr lang="en-US" sz="1300" dirty="0"/>
          </a:p>
          <a:p>
            <a:pPr indent="0" marL="0">
              <a:buNone/>
            </a:pPr>
            <a:r>
              <a:rPr lang="en-US" sz="1300" dirty="0">
                <a:solidFill>
                  <a:srgbClr val="1A1F2E"/>
                </a:solidFill>
              </a:rPr>
              <a:t>ap@ashbrookgeneral.example</a:t>
            </a:r>
            <a:endParaRPr lang="en-US" sz="1300" dirty="0"/>
          </a:p>
          <a:p>
            <a:pPr indent="0" marL="0">
              <a:buNone/>
            </a:pPr>
            <a:endParaRPr lang="en-US" sz="1300" dirty="0"/>
          </a:p>
          <a:p>
            <a:pPr indent="0" marL="0">
              <a:buNone/>
            </a:pPr>
            <a:r>
              <a:rPr lang="en-US" sz="1300" dirty="0">
                <a:solidFill>
                  <a:srgbClr val="1A1F2E"/>
                </a:solidFill>
              </a:rPr>
              <a:t>Every one of those is fixed. Send it a thousand times and a thousand identical copies arrive.</a:t>
            </a:r>
            <a:endParaRPr lang="en-US" sz="130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How a dynamic email is made</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r>
              <a:rPr lang="en-US" dirty="0"/>
              <a:t>Two modules. One changes the facts, the other adds what makes it dangerous</a:t>
            </a:r>
            <a:endParaRPr lang="en-US" dirty="0"/>
          </a:p>
        </p:txBody>
      </p:sp>
      <p:sp>
        <p:nvSpPr>
          <p:cNvPr id="4" name="d11.9"/>
          <p:cNvSpPr/>
          <p:nvPr/>
        </p:nvSpPr>
        <p:spPr>
          <a:xfrm>
            <a:off x="640080" y="1737360"/>
            <a:ext cx="457200" cy="457200"/>
          </a:xfrm>
          <a:prstGeom prst="ellipse">
            <a:avLst/>
          </a:prstGeom>
          <a:solidFill>
            <a:srgbClr val="2F3C7E"/>
          </a:solidFill>
          <a:ln/>
        </p:spPr>
      </p:sp>
      <p:sp>
        <p:nvSpPr>
          <p:cNvPr id="5" name="Text 3"/>
          <p:cNvSpPr txBox="1"/>
          <p:nvPr/>
        </p:nvSpPr>
        <p:spPr>
          <a:xfrm>
            <a:off x="640080" y="17373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6" name="Text 4"/>
          <p:cNvSpPr txBox="1"/>
          <p:nvPr/>
        </p:nvSpPr>
        <p:spPr>
          <a:xfrm>
            <a:off x="1335024" y="1700784"/>
            <a:ext cx="3840480" cy="384048"/>
          </a:xfrm>
          <a:prstGeom prst="rect">
            <a:avLst/>
          </a:prstGeom>
          <a:noFill/>
          <a:ln/>
        </p:spPr>
        <p:txBody>
          <a:bodyPr wrap="square" lIns="0" tIns="0" rIns="0" bIns="0" rtlCol="0" anchor="ctr"/>
          <a:lstStyle/>
          <a:p>
            <a:pPr indent="0" marL="0">
              <a:buNone/>
            </a:pPr>
            <a:r>
              <a:rPr lang="en-US" sz="1500" b="1" dirty="0">
                <a:solidFill>
                  <a:srgbClr val="1A1F2E"/>
                </a:solidFill>
              </a:rPr>
              <a:t>Start from a genuine email</a:t>
            </a:r>
            <a:endParaRPr lang="en-US" sz="1500" dirty="0"/>
          </a:p>
        </p:txBody>
      </p:sp>
      <p:sp>
        <p:nvSpPr>
          <p:cNvPr id="7" name="Text 5"/>
          <p:cNvSpPr txBox="1"/>
          <p:nvPr/>
        </p:nvSpPr>
        <p:spPr>
          <a:xfrm>
            <a:off x="5303520" y="1682496"/>
            <a:ext cx="6217920" cy="822960"/>
          </a:xfrm>
          <a:prstGeom prst="rect">
            <a:avLst/>
          </a:prstGeom>
          <a:noFill/>
          <a:ln/>
        </p:spPr>
        <p:txBody>
          <a:bodyPr wrap="square" lIns="0" tIns="0" rIns="0" bIns="0" rtlCol="0" anchor="ctr"/>
          <a:lstStyle/>
          <a:p>
            <a:pPr indent="0" marL="0">
              <a:buNone/>
            </a:pPr>
            <a:r>
              <a:rPr lang="en-US" sz="1250" dirty="0">
                <a:solidFill>
                  <a:srgbClr val="5A6478"/>
                </a:solidFill>
              </a:rPr>
              <a:t>Real structure and real wording - nothing is written from scratch.</a:t>
            </a:r>
            <a:endParaRPr lang="en-US" sz="1250" dirty="0"/>
          </a:p>
        </p:txBody>
      </p:sp>
      <p:sp>
        <p:nvSpPr>
          <p:cNvPr id="8" name="d22.88"/>
          <p:cNvSpPr/>
          <p:nvPr/>
        </p:nvSpPr>
        <p:spPr>
          <a:xfrm>
            <a:off x="640080" y="2633472"/>
            <a:ext cx="457200" cy="457200"/>
          </a:xfrm>
          <a:prstGeom prst="ellipse">
            <a:avLst/>
          </a:prstGeom>
          <a:solidFill>
            <a:srgbClr val="2F3C7E"/>
          </a:solidFill>
          <a:ln/>
        </p:spPr>
      </p:sp>
      <p:sp>
        <p:nvSpPr>
          <p:cNvPr id="9" name="Text 7"/>
          <p:cNvSpPr txBox="1"/>
          <p:nvPr/>
        </p:nvSpPr>
        <p:spPr>
          <a:xfrm>
            <a:off x="640080" y="26334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0" name="Text 8"/>
          <p:cNvSpPr txBox="1"/>
          <p:nvPr/>
        </p:nvSpPr>
        <p:spPr>
          <a:xfrm>
            <a:off x="1335024" y="2596896"/>
            <a:ext cx="3840480" cy="384048"/>
          </a:xfrm>
          <a:prstGeom prst="rect">
            <a:avLst/>
          </a:prstGeom>
          <a:noFill/>
          <a:ln/>
        </p:spPr>
        <p:txBody>
          <a:bodyPr wrap="square" lIns="0" tIns="0" rIns="0" bIns="0" rtlCol="0" anchor="ctr"/>
          <a:lstStyle/>
          <a:p>
            <a:pPr indent="0" marL="0">
              <a:buNone/>
            </a:pPr>
            <a:r>
              <a:rPr lang="en-US" sz="1500" b="1" dirty="0">
                <a:solidFill>
                  <a:srgbClr val="1A1F2E"/>
                </a:solidFill>
              </a:rPr>
              <a:t>entities.py finds the slots</a:t>
            </a:r>
            <a:endParaRPr lang="en-US" sz="1500" dirty="0"/>
          </a:p>
        </p:txBody>
      </p:sp>
      <p:sp>
        <p:nvSpPr>
          <p:cNvPr id="11" name="Text 9"/>
          <p:cNvSpPr txBox="1"/>
          <p:nvPr/>
        </p:nvSpPr>
        <p:spPr>
          <a:xfrm>
            <a:off x="5303520" y="2578608"/>
            <a:ext cx="6217920" cy="822960"/>
          </a:xfrm>
          <a:prstGeom prst="rect">
            <a:avLst/>
          </a:prstGeom>
          <a:noFill/>
          <a:ln/>
        </p:spPr>
        <p:txBody>
          <a:bodyPr wrap="square" lIns="0" tIns="0" rIns="0" bIns="0" rtlCol="0" anchor="ctr"/>
          <a:lstStyle/>
          <a:p>
            <a:pPr indent="0" marL="0">
              <a:buNone/>
            </a:pPr>
            <a:r>
              <a:rPr lang="en-US" sz="1250" dirty="0">
                <a:solidFill>
                  <a:srgbClr val="5A6478"/>
                </a:solidFill>
              </a:rPr>
              <a:t>13 entity types: reference numbers, days, times, wards, extensions, systems. The email becomes a template.</a:t>
            </a:r>
            <a:endParaRPr lang="en-US" sz="1250" dirty="0"/>
          </a:p>
        </p:txBody>
      </p:sp>
      <p:sp>
        <p:nvSpPr>
          <p:cNvPr id="12" name="d33.86"/>
          <p:cNvSpPr/>
          <p:nvPr/>
        </p:nvSpPr>
        <p:spPr>
          <a:xfrm>
            <a:off x="640080" y="3529584"/>
            <a:ext cx="457200" cy="457200"/>
          </a:xfrm>
          <a:prstGeom prst="ellipse">
            <a:avLst/>
          </a:prstGeom>
          <a:solidFill>
            <a:srgbClr val="2F3C7E"/>
          </a:solidFill>
          <a:ln/>
        </p:spPr>
      </p:sp>
      <p:sp>
        <p:nvSpPr>
          <p:cNvPr id="13" name="Text 11"/>
          <p:cNvSpPr txBox="1"/>
          <p:nvPr/>
        </p:nvSpPr>
        <p:spPr>
          <a:xfrm>
            <a:off x="640080" y="352958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4" name="Text 12"/>
          <p:cNvSpPr txBox="1"/>
          <p:nvPr/>
        </p:nvSpPr>
        <p:spPr>
          <a:xfrm>
            <a:off x="1335024" y="3493008"/>
            <a:ext cx="3840480" cy="384048"/>
          </a:xfrm>
          <a:prstGeom prst="rect">
            <a:avLst/>
          </a:prstGeom>
          <a:noFill/>
          <a:ln/>
        </p:spPr>
        <p:txBody>
          <a:bodyPr wrap="square" lIns="0" tIns="0" rIns="0" bIns="0" rtlCol="0" anchor="ctr"/>
          <a:lstStyle/>
          <a:p>
            <a:pPr indent="0" marL="0">
              <a:buNone/>
            </a:pPr>
            <a:r>
              <a:rPr lang="en-US" sz="1500" b="1" dirty="0">
                <a:solidFill>
                  <a:srgbClr val="1A1F2E"/>
                </a:solidFill>
              </a:rPr>
              <a:t>Refill with fresh values</a:t>
            </a:r>
            <a:endParaRPr lang="en-US" sz="1500" dirty="0"/>
          </a:p>
        </p:txBody>
      </p:sp>
      <p:sp>
        <p:nvSpPr>
          <p:cNvPr id="15" name="Text 13"/>
          <p:cNvSpPr txBox="1"/>
          <p:nvPr/>
        </p:nvSpPr>
        <p:spPr>
          <a:xfrm>
            <a:off x="5303520" y="3474720"/>
            <a:ext cx="6217920" cy="822960"/>
          </a:xfrm>
          <a:prstGeom prst="rect">
            <a:avLst/>
          </a:prstGeom>
          <a:noFill/>
          <a:ln/>
        </p:spPr>
        <p:txBody>
          <a:bodyPr wrap="square" lIns="0" tIns="0" rIns="0" bIns="0" rtlCol="0" anchor="ctr"/>
          <a:lstStyle/>
          <a:p>
            <a:pPr indent="0" marL="0">
              <a:buNone/>
            </a:pPr>
            <a:r>
              <a:rPr lang="en-US" sz="1250" dirty="0">
                <a:solidFill>
                  <a:srgbClr val="5A6478"/>
                </a:solidFill>
              </a:rPr>
              <a:t>PO 7731 -&gt; ASH-5608. finance system -&gt; records system. Same sentence, different facts.</a:t>
            </a:r>
            <a:endParaRPr lang="en-US" sz="1250" dirty="0"/>
          </a:p>
        </p:txBody>
      </p:sp>
      <p:sp>
        <p:nvSpPr>
          <p:cNvPr id="16" name="d44.84"/>
          <p:cNvSpPr/>
          <p:nvPr/>
        </p:nvSpPr>
        <p:spPr>
          <a:xfrm>
            <a:off x="640080" y="4425696"/>
            <a:ext cx="457200" cy="457200"/>
          </a:xfrm>
          <a:prstGeom prst="ellipse">
            <a:avLst/>
          </a:prstGeom>
          <a:solidFill>
            <a:srgbClr val="990011"/>
          </a:solidFill>
          <a:ln/>
        </p:spPr>
      </p:sp>
      <p:sp>
        <p:nvSpPr>
          <p:cNvPr id="17" name="Text 15"/>
          <p:cNvSpPr txBox="1"/>
          <p:nvPr/>
        </p:nvSpPr>
        <p:spPr>
          <a:xfrm>
            <a:off x="640080" y="44256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18" name="Text 16"/>
          <p:cNvSpPr txBox="1"/>
          <p:nvPr/>
        </p:nvSpPr>
        <p:spPr>
          <a:xfrm>
            <a:off x="1335024" y="4389120"/>
            <a:ext cx="3840480" cy="384048"/>
          </a:xfrm>
          <a:prstGeom prst="rect">
            <a:avLst/>
          </a:prstGeom>
          <a:noFill/>
          <a:ln/>
        </p:spPr>
        <p:txBody>
          <a:bodyPr wrap="square" lIns="0" tIns="0" rIns="0" bIns="0" rtlCol="0" anchor="ctr"/>
          <a:lstStyle/>
          <a:p>
            <a:pPr indent="0" marL="0">
              <a:buNone/>
            </a:pPr>
            <a:r>
              <a:rPr lang="en-US" sz="1500" b="1" dirty="0">
                <a:solidFill>
                  <a:srgbClr val="1A1F2E"/>
                </a:solidFill>
              </a:rPr>
              <a:t>Pick the attack type</a:t>
            </a:r>
            <a:endParaRPr lang="en-US" sz="1500" dirty="0"/>
          </a:p>
        </p:txBody>
      </p:sp>
      <p:sp>
        <p:nvSpPr>
          <p:cNvPr id="19" name="Text 17"/>
          <p:cNvSpPr txBox="1"/>
          <p:nvPr/>
        </p:nvSpPr>
        <p:spPr>
          <a:xfrm>
            <a:off x="5303520" y="4370832"/>
            <a:ext cx="6217920" cy="822960"/>
          </a:xfrm>
          <a:prstGeom prst="rect">
            <a:avLst/>
          </a:prstGeom>
          <a:noFill/>
          <a:ln/>
        </p:spPr>
        <p:txBody>
          <a:bodyPr wrap="square" lIns="0" tIns="0" rIns="0" bIns="0" rtlCol="0" anchor="ctr"/>
          <a:lstStyle/>
          <a:p>
            <a:pPr indent="0" marL="0">
              <a:buNone/>
            </a:pPr>
            <a:r>
              <a:rPr lang="en-US" sz="1250" dirty="0">
                <a:solidFill>
                  <a:srgbClr val="5A6478"/>
                </a:solidFill>
              </a:rPr>
              <a:t>Each technique names the modifications it must have and may have. Whaling must have pressure and a credential request.</a:t>
            </a:r>
            <a:endParaRPr lang="en-US" sz="1250" dirty="0"/>
          </a:p>
        </p:txBody>
      </p:sp>
      <p:sp>
        <p:nvSpPr>
          <p:cNvPr id="20" name="d55.82"/>
          <p:cNvSpPr/>
          <p:nvPr/>
        </p:nvSpPr>
        <p:spPr>
          <a:xfrm>
            <a:off x="640080" y="5321808"/>
            <a:ext cx="457200" cy="457200"/>
          </a:xfrm>
          <a:prstGeom prst="ellipse">
            <a:avLst/>
          </a:prstGeom>
          <a:solidFill>
            <a:srgbClr val="990011"/>
          </a:solidFill>
          <a:ln/>
        </p:spPr>
      </p:sp>
      <p:sp>
        <p:nvSpPr>
          <p:cNvPr id="21" name="Text 19"/>
          <p:cNvSpPr txBox="1"/>
          <p:nvPr/>
        </p:nvSpPr>
        <p:spPr>
          <a:xfrm>
            <a:off x="640080" y="53218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22" name="Text 20"/>
          <p:cNvSpPr txBox="1"/>
          <p:nvPr/>
        </p:nvSpPr>
        <p:spPr>
          <a:xfrm>
            <a:off x="1335024" y="5285232"/>
            <a:ext cx="3840480" cy="384048"/>
          </a:xfrm>
          <a:prstGeom prst="rect">
            <a:avLst/>
          </a:prstGeom>
          <a:noFill/>
          <a:ln/>
        </p:spPr>
        <p:txBody>
          <a:bodyPr wrap="square" lIns="0" tIns="0" rIns="0" bIns="0" rtlCol="0" anchor="ctr"/>
          <a:lstStyle/>
          <a:p>
            <a:pPr indent="0" marL="0">
              <a:buNone/>
            </a:pPr>
            <a:r>
              <a:rPr lang="en-US" sz="1500" b="1" dirty="0">
                <a:solidFill>
                  <a:srgbClr val="1A1F2E"/>
                </a:solidFill>
              </a:rPr>
              <a:t>modifications.py applies them</a:t>
            </a:r>
            <a:endParaRPr lang="en-US" sz="1500" dirty="0"/>
          </a:p>
        </p:txBody>
      </p:sp>
      <p:sp>
        <p:nvSpPr>
          <p:cNvPr id="23" name="Text 21"/>
          <p:cNvSpPr txBox="1"/>
          <p:nvPr/>
        </p:nvSpPr>
        <p:spPr>
          <a:xfrm>
            <a:off x="5303520" y="5266944"/>
            <a:ext cx="6217920" cy="822960"/>
          </a:xfrm>
          <a:prstGeom prst="rect">
            <a:avLst/>
          </a:prstGeom>
          <a:noFill/>
          <a:ln/>
        </p:spPr>
        <p:txBody>
          <a:bodyPr wrap="square" lIns="0" tIns="0" rIns="0" bIns="0" rtlCol="0" anchor="ctr"/>
          <a:lstStyle/>
          <a:p>
            <a:pPr indent="0" marL="0">
              <a:buNone/>
            </a:pPr>
            <a:r>
              <a:rPr lang="en-US" sz="1250" dirty="0">
                <a:solidFill>
                  <a:srgbClr val="5A6478"/>
                </a:solidFill>
              </a:rPr>
              <a:t>17 ways to make an email phishy, in 4 families. Each one returns the red flag it introduced.</a:t>
            </a:r>
            <a:endParaRPr lang="en-US" sz="125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What a dynamic email looks like</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r>
              <a:rPr lang="en-US" dirty="0"/>
              <a:t>Built from that same email 39, now a Whaling attack. Nothing about it was typed by hand</a:t>
            </a:r>
            <a:endParaRPr lang="en-US" dirty="0"/>
          </a:p>
        </p:txBody>
      </p:sp>
      <p:sp>
        <p:nvSpPr>
          <p:cNvPr id="4" name="dynemail"/>
          <p:cNvSpPr/>
          <p:nvPr/>
        </p:nvSpPr>
        <p:spPr>
          <a:xfrm>
            <a:off x="640080" y="1783080"/>
            <a:ext cx="6675120" cy="3749040"/>
          </a:xfrm>
          <a:prstGeom prst="roundRect">
            <a:avLst>
              <a:gd name="adj" fmla="val 1951"/>
            </a:avLst>
          </a:prstGeom>
          <a:solidFill>
            <a:srgbClr val="FBF2F3"/>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5" name="Text 3"/>
          <p:cNvSpPr txBox="1"/>
          <p:nvPr/>
        </p:nvSpPr>
        <p:spPr>
          <a:xfrm>
            <a:off x="960120" y="2011680"/>
            <a:ext cx="6126480" cy="3291840"/>
          </a:xfrm>
          <a:prstGeom prst="rect">
            <a:avLst/>
          </a:prstGeom>
          <a:noFill/>
          <a:ln/>
        </p:spPr>
        <p:txBody>
          <a:bodyPr wrap="square" lIns="0" tIns="0" rIns="0" bIns="0" rtlCol="0" anchor="ctr"/>
          <a:lstStyle/>
          <a:p>
            <a:pPr indent="0" marL="0">
              <a:buNone/>
            </a:pPr>
            <a:r>
              <a:rPr lang="en-US" sz="1150" b="1" dirty="0">
                <a:solidFill>
                  <a:srgbClr val="5A6478"/>
                </a:solidFill>
                <a:latin typeface="Courier New" pitchFamily="34" charset="0"/>
                <a:ea typeface="Courier New" pitchFamily="34" charset="-122"/>
                <a:cs typeface="Courier New" pitchFamily="34" charset="-120"/>
              </a:rPr>
              <a:t>From:     </a:t>
            </a:r>
            <a:pPr indent="0" marL="0">
              <a:buNone/>
            </a:pPr>
            <a:r>
              <a:rPr lang="en-US" sz="1150" dirty="0">
                <a:solidFill>
                  <a:srgbClr val="1A1F2E"/>
                </a:solidFill>
                <a:latin typeface="Courier New" pitchFamily="34" charset="0"/>
                <a:ea typeface="Courier New" pitchFamily="34" charset="-122"/>
                <a:cs typeface="Courier New" pitchFamily="34" charset="-120"/>
              </a:rPr>
              <a:t>ap@ashbrookgeneral.example</a:t>
            </a:r>
            <a:pPr indent="0" marL="0">
              <a:buNone/>
            </a:pPr>
            <a:r>
              <a:rPr lang="en-US" sz="1150" b="1" dirty="0">
                <a:solidFill>
                  <a:srgbClr val="990011"/>
                </a:solidFill>
                <a:latin typeface="Courier New" pitchFamily="34" charset="0"/>
                <a:ea typeface="Courier New" pitchFamily="34" charset="-122"/>
                <a:cs typeface="Courier New" pitchFamily="34" charset="-120"/>
              </a:rPr>
              <a:t>   &lt;- the real domain, forged
</a:t>
            </a:r>
            <a:pPr indent="0" marL="0">
              <a:buNone/>
            </a:pPr>
            <a:r>
              <a:rPr lang="en-US" sz="1150" b="1" dirty="0">
                <a:solidFill>
                  <a:srgbClr val="5A6478"/>
                </a:solidFill>
                <a:latin typeface="Courier New" pitchFamily="34" charset="0"/>
                <a:ea typeface="Courier New" pitchFamily="34" charset="-122"/>
                <a:cs typeface="Courier New" pitchFamily="34" charset="-120"/>
              </a:rPr>
              <a:t>Subject:  </a:t>
            </a:r>
            <a:pPr indent="0" marL="0">
              <a:buNone/>
            </a:pPr>
            <a:r>
              <a:rPr lang="en-US" sz="1150" dirty="0">
                <a:solidFill>
                  <a:srgbClr val="1A1F2E"/>
                </a:solidFill>
                <a:latin typeface="Courier New" pitchFamily="34" charset="0"/>
                <a:ea typeface="Courier New" pitchFamily="34" charset="-122"/>
                <a:cs typeface="Courier New" pitchFamily="34" charset="-120"/>
              </a:rPr>
              <a:t>Invoice matched to ASH-5608 - ready for approval
</a:t>
            </a:r>
            <a:pPr indent="0" marL="0">
              <a:buNone/>
            </a:pPr>
            <a:r>
              <a:rPr lang="en-US" sz="1150" dirty="0">
                <a:solidFill>
                  <a:srgbClr val="1A1F2E"/>
                </a:solidFill>
                <a:latin typeface="Courier New" pitchFamily="34" charset="0"/>
                <a:ea typeface="Courier New" pitchFamily="34" charset="-122"/>
                <a:cs typeface="Courier New" pitchFamily="34" charset="-120"/>
              </a:rPr>
              <a:t>Hi,
The invoice from our regular linen supplier has been
matched to purchase order 7731 and is queued for your
approval in the records system, as usual.
No bank details have changed on this one.
Accounts Payable
</a:t>
            </a:r>
            <a:pPr indent="0" marL="0">
              <a:buNone/>
            </a:pPr>
            <a:r>
              <a:rPr lang="en-US" sz="1150" dirty="0">
                <a:solidFill>
                  <a:srgbClr val="990011"/>
                </a:solidFill>
                <a:latin typeface="Courier New" pitchFamily="34" charset="0"/>
                <a:ea typeface="Courier New" pitchFamily="34" charset="-122"/>
                <a:cs typeface="Courier New" pitchFamily="34" charset="-120"/>
              </a:rPr>
              <a:t>Confirm your bank details so payment can be released.</a:t>
            </a:r>
            <a:endParaRPr lang="en-US" sz="1150" dirty="0"/>
          </a:p>
          <a:p>
            <a:pPr indent="0" marL="0">
              <a:buNone/>
            </a:pPr>
            <a:r>
              <a:rPr lang="en-US" sz="1150" dirty="0">
                <a:solidFill>
                  <a:srgbClr val="990011"/>
                </a:solidFill>
                <a:latin typeface="Courier New" pitchFamily="34" charset="0"/>
                <a:ea typeface="Courier New" pitchFamily="34" charset="-122"/>
                <a:cs typeface="Courier New" pitchFamily="34" charset="-120"/>
              </a:rPr>
              <a:t>Please keep this between us until it is announced.</a:t>
            </a:r>
            <a:endParaRPr lang="en-US" sz="1150" dirty="0"/>
          </a:p>
          <a:p>
            <a:pPr indent="0" marL="0">
              <a:buNone/>
            </a:pPr>
            <a:r>
              <a:rPr lang="en-US" sz="1150" dirty="0">
                <a:solidFill>
                  <a:srgbClr val="990011"/>
                </a:solidFill>
                <a:latin typeface="Courier New" pitchFamily="34" charset="0"/>
                <a:ea typeface="Courier New" pitchFamily="34" charset="-122"/>
                <a:cs typeface="Courier New" pitchFamily="34" charset="-120"/>
              </a:rPr>
              <a:t>This must be completed before midnight.</a:t>
            </a:r>
            <a:endParaRPr lang="en-US" sz="1150" dirty="0"/>
          </a:p>
        </p:txBody>
      </p:sp>
      <p:sp>
        <p:nvSpPr>
          <p:cNvPr id="6" name="Text 4"/>
          <p:cNvSpPr txBox="1"/>
          <p:nvPr/>
        </p:nvSpPr>
        <p:spPr>
          <a:xfrm>
            <a:off x="7589520" y="1828800"/>
            <a:ext cx="3931920" cy="320040"/>
          </a:xfrm>
          <a:prstGeom prst="rect">
            <a:avLst/>
          </a:prstGeom>
          <a:noFill/>
          <a:ln/>
        </p:spPr>
        <p:txBody>
          <a:bodyPr wrap="square" lIns="0" tIns="0" rIns="0" bIns="0" rtlCol="0" anchor="ctr"/>
          <a:lstStyle/>
          <a:p>
            <a:pPr indent="0" marL="0">
              <a:buNone/>
            </a:pPr>
            <a:r>
              <a:rPr lang="en-US" sz="1500" b="1" dirty="0">
                <a:solidFill>
                  <a:srgbClr val="2F3C7E"/>
                </a:solidFill>
              </a:rPr>
              <a:t>What changed</a:t>
            </a:r>
            <a:endParaRPr lang="en-US" sz="1500" dirty="0"/>
          </a:p>
        </p:txBody>
      </p:sp>
      <p:sp>
        <p:nvSpPr>
          <p:cNvPr id="7" name="Text 5"/>
          <p:cNvSpPr txBox="1"/>
          <p:nvPr/>
        </p:nvSpPr>
        <p:spPr>
          <a:xfrm>
            <a:off x="7589520" y="2240280"/>
            <a:ext cx="3931920" cy="3108960"/>
          </a:xfrm>
          <a:prstGeom prst="rect">
            <a:avLst/>
          </a:prstGeom>
          <a:noFill/>
          <a:ln/>
        </p:spPr>
        <p:txBody>
          <a:bodyPr wrap="square" lIns="0" tIns="0" rIns="0" bIns="0" rtlCol="0" anchor="ctr"/>
          <a:lstStyle/>
          <a:p>
            <a:pPr indent="0" marL="0">
              <a:buNone/>
            </a:pPr>
            <a:r>
              <a:rPr lang="en-US" sz="1250" b="1" dirty="0">
                <a:solidFill>
                  <a:srgbClr val="1A1F2E"/>
                </a:solidFill>
              </a:rPr>
              <a:t>Entities swapped
</a:t>
            </a:r>
            <a:pPr indent="0" marL="0">
              <a:buNone/>
            </a:pPr>
            <a:r>
              <a:rPr lang="en-US" sz="1250" dirty="0">
                <a:solidFill>
                  <a:srgbClr val="5A6478"/>
                </a:solidFill>
              </a:rPr>
              <a:t>PO 7731 -&gt; ASH-5608
finance system -&gt; records system
extension 4260 -&gt; 4345
</a:t>
            </a:r>
            <a:pPr indent="0" marL="0">
              <a:buNone/>
            </a:pPr>
            <a:r>
              <a:rPr lang="en-US" sz="1250" b="1" dirty="0">
                <a:solidFill>
                  <a:srgbClr val="1A1F2E"/>
                </a:solidFill>
              </a:rPr>
              <a:t>Modifications applied
</a:t>
            </a:r>
            <a:pPr indent="0" marL="0">
              <a:buNone/>
            </a:pPr>
            <a:r>
              <a:rPr lang="en-US" sz="1250" dirty="0">
                <a:solidFill>
                  <a:srgbClr val="990011"/>
                </a:solidFill>
              </a:rPr>
              <a:t>forged_from</a:t>
            </a:r>
            <a:endParaRPr lang="en-US" sz="1250" dirty="0"/>
          </a:p>
          <a:p>
            <a:pPr indent="0" marL="0">
              <a:buNone/>
            </a:pPr>
            <a:r>
              <a:rPr lang="en-US" sz="1250" dirty="0">
                <a:solidFill>
                  <a:srgbClr val="990011"/>
                </a:solidFill>
              </a:rPr>
              <a:t>credential_request</a:t>
            </a:r>
            <a:endParaRPr lang="en-US" sz="1250" dirty="0"/>
          </a:p>
          <a:p>
            <a:pPr indent="0" marL="0">
              <a:buNone/>
            </a:pPr>
            <a:r>
              <a:rPr lang="en-US" sz="1250" dirty="0">
                <a:solidFill>
                  <a:srgbClr val="990011"/>
                </a:solidFill>
              </a:rPr>
              <a:t>pressure</a:t>
            </a:r>
            <a:endParaRPr lang="en-US" sz="1250" dirty="0"/>
          </a:p>
          <a:p>
            <a:pPr indent="0" marL="0">
              <a:buNone/>
            </a:pPr>
            <a:r>
              <a:rPr lang="en-US" sz="1250" dirty="0">
                <a:solidFill>
                  <a:srgbClr val="990011"/>
                </a:solidFill>
              </a:rPr>
              <a:t>urgency</a:t>
            </a:r>
            <a:endParaRPr lang="en-US" sz="1250" dirty="0"/>
          </a:p>
          <a:p>
            <a:pPr indent="0" marL="0">
              <a:buNone/>
            </a:pPr>
            <a:r>
              <a:rPr lang="en-US" sz="1250" dirty="0">
                <a:solidFill>
                  <a:srgbClr val="990011"/>
                </a:solidFill>
              </a:rPr>
              <a:t>no_contact</a:t>
            </a:r>
            <a:endParaRPr lang="en-US" sz="125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The red flags write themselves</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r>
              <a:rPr lang="en-US" dirty="0"/>
              <a:t>Each modification returns the tell it introduced, so nothing is typed by hand</a:t>
            </a:r>
            <a:endParaRPr lang="en-US" dirty="0"/>
          </a:p>
        </p:txBody>
      </p:sp>
      <p:graphicFrame>
        <p:nvGraphicFramePr>
          <p:cNvPr id="7" name="flags"/>
          <p:cNvGraphicFramePr>
            <a:graphicFrameLocks noGrp="1"/>
          </p:cNvGraphicFramePr>
          <p:nvPr>
            <p:extLst>
              <p:ext uri="{D42A27DB-BD31-4B8C-83A1-F6EECF244321}">
                <p14:modId xmlns:p14="http://schemas.microsoft.com/office/powerpoint/2010/main" val="1579011935"/>
              </p:ext>
            </p:extLst>
          </p:nvPr>
        </p:nvGraphicFramePr>
        <p:xfrm>
          <a:off x="822960" y="1874520"/>
          <a:ext cx="10515600" cy="914400"/>
        </p:xfrm>
        <a:graphic>
          <a:graphicData uri="http://schemas.openxmlformats.org/drawingml/2006/table">
            <a:tbl>
              <a:tblPr/>
              <a:tblGrid>
                <a:gridCol w="2743200"/>
                <a:gridCol w="77724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Modification applied</a:t>
                      </a:r>
                      <a:endParaRPr lang="en-US" sz="13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2F3C7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Red flag it produced</a:t>
                      </a:r>
                      <a:endParaRPr lang="en-US" sz="13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2F3C7E"/>
                    </a:solidFill>
                  </a:tcPr>
                </a:tc>
              </a:tr>
              <a:tr h="475488">
                <a:tc>
                  <a:txBody>
                    <a:bodyPr/>
                    <a:lstStyle/>
                    <a:p>
                      <a:pPr indent="0" marL="0">
                        <a:buNone/>
                      </a:pPr>
                      <a:r>
                        <a:rPr lang="en-US" sz="1150" b="1" dirty="0">
                          <a:solidFill>
                            <a:srgbClr val="2F3C7E"/>
                          </a:solidFill>
                          <a:latin typeface="Courier New" pitchFamily="34" charset="0"/>
                          <a:ea typeface="Courier New" pitchFamily="34" charset="-122"/>
                          <a:cs typeface="Courier New" pitchFamily="34" charset="-120"/>
                        </a:rPr>
                        <a:t>forged_from</a:t>
                      </a:r>
                      <a:endParaRPr lang="en-US" sz="1150" dirty="0">
                        <a:latin typeface="Courier New" charset="0"/>
                        <a:ea typeface="Courier New" charset="0"/>
                        <a:cs typeface="Courier New"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the From line shows the real domain - a From line can be forged, so it proves nothing</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2F3C7E"/>
                          </a:solidFill>
                          <a:latin typeface="Courier New" pitchFamily="34" charset="0"/>
                          <a:ea typeface="Courier New" pitchFamily="34" charset="-122"/>
                          <a:cs typeface="Courier New" pitchFamily="34" charset="-120"/>
                        </a:rPr>
                        <a:t>credential_request</a:t>
                      </a:r>
                      <a:endParaRPr lang="en-US" sz="1150" dirty="0">
                        <a:latin typeface="Courier New" charset="0"/>
                        <a:ea typeface="Courier New" charset="0"/>
                        <a:cs typeface="Courier New"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asks you to act on credentials: 'Confirm your bank details so payment can be released.'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r>
              <a:tr h="475488">
                <a:tc>
                  <a:txBody>
                    <a:bodyPr/>
                    <a:lstStyle/>
                    <a:p>
                      <a:pPr indent="0" marL="0">
                        <a:buNone/>
                      </a:pPr>
                      <a:r>
                        <a:rPr lang="en-US" sz="1150" b="1" dirty="0">
                          <a:solidFill>
                            <a:srgbClr val="2F3C7E"/>
                          </a:solidFill>
                          <a:latin typeface="Courier New" pitchFamily="34" charset="0"/>
                          <a:ea typeface="Courier New" pitchFamily="34" charset="-122"/>
                          <a:cs typeface="Courier New" pitchFamily="34" charset="-120"/>
                        </a:rPr>
                        <a:t>pressure</a:t>
                      </a:r>
                      <a:endParaRPr lang="en-US" sz="1150" dirty="0">
                        <a:latin typeface="Courier New" charset="0"/>
                        <a:ea typeface="Courier New" charset="0"/>
                        <a:cs typeface="Courier New"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pressure or secrecy: 'Please keep this between us until it is announced.'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2F3C7E"/>
                          </a:solidFill>
                          <a:latin typeface="Courier New" pitchFamily="34" charset="0"/>
                          <a:ea typeface="Courier New" pitchFamily="34" charset="-122"/>
                          <a:cs typeface="Courier New" pitchFamily="34" charset="-120"/>
                        </a:rPr>
                        <a:t>urgency</a:t>
                      </a:r>
                      <a:endParaRPr lang="en-US" sz="1150" dirty="0">
                        <a:latin typeface="Courier New" charset="0"/>
                        <a:ea typeface="Courier New" charset="0"/>
                        <a:cs typeface="Courier New"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pushes a deadline: 'This must be completed before midnight.'</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r>
              <a:tr h="475488">
                <a:tc>
                  <a:txBody>
                    <a:bodyPr/>
                    <a:lstStyle/>
                    <a:p>
                      <a:pPr indent="0" marL="0">
                        <a:buNone/>
                      </a:pPr>
                      <a:r>
                        <a:rPr lang="en-US" sz="1150" b="1" dirty="0">
                          <a:solidFill>
                            <a:srgbClr val="2F3C7E"/>
                          </a:solidFill>
                          <a:latin typeface="Courier New" pitchFamily="34" charset="0"/>
                          <a:ea typeface="Courier New" pitchFamily="34" charset="-122"/>
                          <a:cs typeface="Courier New" pitchFamily="34" charset="-120"/>
                        </a:rPr>
                        <a:t>no_contact</a:t>
                      </a:r>
                      <a:endParaRPr lang="en-US" sz="1150" dirty="0">
                        <a:latin typeface="Courier New" charset="0"/>
                        <a:ea typeface="Courier New" charset="0"/>
                        <a:cs typeface="Courier New"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no name, no extension, no department to check with</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22960" y="4572000"/>
            <a:ext cx="10515600" cy="457200"/>
          </a:xfrm>
          <a:prstGeom prst="rect">
            <a:avLst/>
          </a:prstGeom>
          <a:noFill/>
          <a:ln/>
        </p:spPr>
        <p:txBody>
          <a:bodyPr wrap="square" lIns="0" tIns="0" rIns="0" bIns="0" rtlCol="0" anchor="ctr"/>
          <a:lstStyle/>
          <a:p>
            <a:pPr indent="0" marL="0">
              <a:buNone/>
            </a:pPr>
            <a:r>
              <a:rPr lang="en-US" sz="1300" i="1" dirty="0">
                <a:solidFill>
                  <a:srgbClr val="2F3C7E"/>
                </a:solidFill>
              </a:rPr>
              <a:t>For the 51 static emails these were written out one by one - 125 of them. Now they come from the module that made the change.</a:t>
            </a:r>
            <a:endParaRPr lang="en-US" sz="130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hasCustomPrompt="1"/>
          </p:nvPr>
        </p:nvSpPr>
        <p:spPr>
          <a:xfrm>
            <a:off x="640080" y="384048"/>
            <a:ext cx="10908792" cy="658368"/>
          </a:xfrm>
          <a:prstGeom prst="rect">
            <a:avLst/>
          </a:prstGeom>
          <a:noFill/>
          <a:ln/>
        </p:spPr>
        <p:txBody>
          <a:bodyPr wrap="square" rtlCol="0"/>
          <a:lstStyle/>
          <a:p>
            <a:pPr indent="0" marL="0">
              <a:buNone/>
            </a:pPr>
            <a:r>
              <a:rPr lang="en-US" dirty="0"/>
              <a:t>Static against dynamic</a:t>
            </a:r>
            <a:endParaRPr lang="en-US" dirty="0"/>
          </a:p>
        </p:txBody>
      </p:sp>
      <p:sp>
        <p:nvSpPr>
          <p:cNvPr id="3" name="Text 1"/>
          <p:cNvSpPr/>
          <p:nvPr>
            <p:ph hasCustomPrompt="1"/>
          </p:nvPr>
        </p:nvSpPr>
        <p:spPr>
          <a:xfrm>
            <a:off x="640080" y="1060704"/>
            <a:ext cx="10360152" cy="566928"/>
          </a:xfrm>
          <a:prstGeom prst="rect">
            <a:avLst/>
          </a:prstGeom>
          <a:noFill/>
          <a:ln/>
        </p:spPr>
        <p:txBody>
          <a:bodyPr wrap="square" rtlCol="0"/>
          <a:lstStyle/>
          <a:p>
            <a:pPr indent="0" marL="0">
              <a:buNone/>
            </a:pPr>
            <a:endParaRPr lang="en-US" dirty="0"/>
          </a:p>
        </p:txBody>
      </p:sp>
      <p:graphicFrame>
        <p:nvGraphicFramePr>
          <p:cNvPr id="8" name="cmp"/>
          <p:cNvGraphicFramePr>
            <a:graphicFrameLocks noGrp="1"/>
          </p:cNvGraphicFramePr>
          <p:nvPr>
            <p:extLst>
              <p:ext uri="{D42A27DB-BD31-4B8C-83A1-F6EECF244321}">
                <p14:modId xmlns:p14="http://schemas.microsoft.com/office/powerpoint/2010/main" val="1579011935"/>
              </p:ext>
            </p:extLst>
          </p:nvPr>
        </p:nvGraphicFramePr>
        <p:xfrm>
          <a:off x="777240" y="1691640"/>
          <a:ext cx="10607040" cy="914400"/>
        </p:xfrm>
        <a:graphic>
          <a:graphicData uri="http://schemas.openxmlformats.org/drawingml/2006/table">
            <a:tbl>
              <a:tblPr/>
              <a:tblGrid>
                <a:gridCol w="2286000"/>
                <a:gridCol w="3931920"/>
                <a:gridCol w="4389120"/>
              </a:tblGrid>
              <a:tr h="457200">
                <a:tc>
                  <a:txBody>
                    <a:bodyPr/>
                    <a:lstStyle/>
                    <a:p>
                      <a:pPr indent="0" marL="0">
                        <a:buNone/>
                      </a:pPr>
                      <a:endParaRPr lang="en-US" sz="13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2F3C7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Static (the 51)</a:t>
                      </a:r>
                      <a:endParaRPr lang="en-US" sz="13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2F3C7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Dynamic (built on demand)</a:t>
                      </a:r>
                      <a:endParaRPr lang="en-US" sz="13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2F3C7E"/>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How many</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51, fixed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Unlimited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Repeats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Unavoidable at volume</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Every delivery is new</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Wording</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Same skeleton, fresh facts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Facts in them</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Always the same PO, ward, extension</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Swapped every time, 13 entity types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Red flags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125, written by hand</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Produced by the modification that caused them</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Adding one</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Write the email and its tells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Already covered by the recipes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r>
              <a:tr h="457200">
                <a:tc>
                  <a:txBody>
                    <a:bodyPr/>
                    <a:lstStyle/>
                    <a:p>
                      <a:pPr indent="0" marL="0">
                        <a:buNone/>
                      </a:pPr>
                      <a:r>
                        <a:rPr lang="en-US" sz="1200" b="1" dirty="0">
                          <a:solidFill>
                            <a:srgbClr val="1A1F2E"/>
                          </a:solidFill>
                          <a:latin typeface="Calibri" pitchFamily="34" charset="0"/>
                          <a:ea typeface="Calibri" pitchFamily="34" charset="-122"/>
                          <a:cs typeface="Calibri" pitchFamily="34" charset="-120"/>
                        </a:rPr>
                        <a:t>Still needed for</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2F4F8"/>
                    </a:solidFill>
                  </a:tcPr>
                </a:tc>
                <a:tc>
                  <a:txBody>
                    <a:bodyPr/>
                    <a:lstStyle/>
                    <a:p>
                      <a:pPr indent="0" marL="0">
                        <a:buNone/>
                      </a:pPr>
                      <a:r>
                        <a:rPr lang="en-US" sz="1200" dirty="0">
                          <a:solidFill>
                            <a:srgbClr val="5A6478"/>
                          </a:solidFill>
                          <a:latin typeface="Calibri" pitchFamily="34" charset="0"/>
                          <a:ea typeface="Calibri" pitchFamily="34" charset="-122"/>
                          <a:cs typeface="Calibri" pitchFamily="34" charset="-120"/>
                        </a:rPr>
                        <a:t>A fixed, comparable test set</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200" dirty="0">
                          <a:solidFill>
                            <a:srgbClr val="1A1F2E"/>
                          </a:solidFill>
                          <a:latin typeface="Calibri" pitchFamily="34" charset="0"/>
                          <a:ea typeface="Calibri" pitchFamily="34" charset="-122"/>
                          <a:cs typeface="Calibri" pitchFamily="34" charset="-120"/>
                        </a:rPr>
                        <a:t>Volume, and testing on unseen emails</a:t>
                      </a:r>
                      <a:endParaRPr lang="en-US" sz="1200" dirty="0">
                        <a:latin typeface="Calibri" charset="0"/>
                        <a:ea typeface="Calibri" charset="0"/>
                        <a:cs typeface="Calibri" charset="0"/>
                      </a:endParaRPr>
                    </a:p>
                  </a:txBody>
                  <a:tcPr marL="82296" marR="82296" marT="82296" marB="82296"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bl>
          </a:graphicData>
        </a:graphic>
      </p:graphicFrame>
      <p:sp>
        <p:nvSpPr>
          <p:cNvPr id="5" name="cmpnote"/>
          <p:cNvSpPr/>
          <p:nvPr/>
        </p:nvSpPr>
        <p:spPr>
          <a:xfrm>
            <a:off x="777240" y="5120640"/>
            <a:ext cx="10607040" cy="868680"/>
          </a:xfrm>
          <a:prstGeom prst="roundRect">
            <a:avLst>
              <a:gd name="adj" fmla="val 8421"/>
            </a:avLst>
          </a:prstGeom>
          <a:solidFill>
            <a:srgbClr val="1A1F2E"/>
          </a:solidFill>
          <a:ln w="12700">
            <a:solidFill>
              <a:srgbClr val="E2E7F0"/>
            </a:solidFill>
            <a:prstDash val="solid"/>
          </a:ln>
          <a:effectLst>
            <a:outerShdw sx="100000" sy="100000" kx="0" ky="0" algn="bl" rotWithShape="0" blurRad="127000" dist="25400" dir="5400000">
              <a:srgbClr val="1A1F2E">
                <a:alpha val="10000"/>
              </a:srgbClr>
            </a:outerShdw>
          </a:effectLst>
        </p:spPr>
      </p:sp>
      <p:sp>
        <p:nvSpPr>
          <p:cNvPr id="6" name="Text 3"/>
          <p:cNvSpPr txBox="1"/>
          <p:nvPr/>
        </p:nvSpPr>
        <p:spPr>
          <a:xfrm>
            <a:off x="1143000" y="5120640"/>
            <a:ext cx="9875520" cy="868680"/>
          </a:xfrm>
          <a:prstGeom prst="rect">
            <a:avLst/>
          </a:prstGeom>
          <a:noFill/>
          <a:ln/>
        </p:spPr>
        <p:txBody>
          <a:bodyPr wrap="square" lIns="0" tIns="0" rIns="0" bIns="0" rtlCol="0" anchor="ctr"/>
          <a:lstStyle/>
          <a:p>
            <a:pPr indent="0" marL="0">
              <a:buNone/>
            </a:pPr>
            <a:r>
              <a:rPr lang="en-US" sz="1400" b="1" dirty="0">
                <a:solidFill>
                  <a:srgbClr val="FFFFFF"/>
                </a:solidFill>
              </a:rPr>
              <a:t>Both are kept. The 51 are the fixed test set everyone can be compared on; the dynamic ones give volume and emails no model has seen.</a:t>
            </a:r>
            <a:endParaRPr lang="en-US" sz="1400" dirty="0"/>
          </a:p>
        </p:txBody>
      </p:sp>
      <p:sp>
        <p:nvSpPr>
          <p:cNvPr id="25" name="Slide Number Placeholder 0"/>
          <p:cNvSpPr>
            <a:spLocks noGrp="1"/>
          </p:cNvSpPr>
          <p:nvPr>
            <p:ph type="sldNum" sz="quarter" idx="4294967295"/>
          </p:nvPr>
        </p:nvSpPr>
        <p:spPr>
          <a:xfrm>
            <a:off x="11155680" y="632764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A647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hasCustomPrompt="1"/>
          </p:nvPr>
        </p:nvSpPr>
        <p:spPr>
          <a:xfrm>
            <a:off x="640080" y="731520"/>
            <a:ext cx="10908792" cy="822960"/>
          </a:xfrm>
          <a:prstGeom prst="rect">
            <a:avLst/>
          </a:prstGeom>
          <a:noFill/>
          <a:ln/>
        </p:spPr>
        <p:txBody>
          <a:bodyPr wrap="square" rtlCol="0"/>
          <a:lstStyle/>
          <a:p>
            <a:pPr indent="0" marL="0">
              <a:buNone/>
            </a:pPr>
            <a:r>
              <a:rPr lang="en-US" dirty="0"/>
              <a:t>What this makes possible</a:t>
            </a:r>
            <a:endParaRPr lang="en-US" dirty="0"/>
          </a:p>
        </p:txBody>
      </p:sp>
      <p:sp>
        <p:nvSpPr>
          <p:cNvPr id="3" name="Text 1"/>
          <p:cNvSpPr txBox="1"/>
          <p:nvPr/>
        </p:nvSpPr>
        <p:spPr>
          <a:xfrm>
            <a:off x="640080" y="1572768"/>
            <a:ext cx="10908792" cy="365760"/>
          </a:xfrm>
          <a:prstGeom prst="rect">
            <a:avLst/>
          </a:prstGeom>
          <a:noFill/>
          <a:ln/>
        </p:spPr>
        <p:txBody>
          <a:bodyPr wrap="square" lIns="0" tIns="0" rIns="0" bIns="0" rtlCol="0" anchor="ctr"/>
          <a:lstStyle/>
          <a:p>
            <a:pPr indent="0" marL="0">
              <a:buNone/>
            </a:pPr>
            <a:r>
              <a:rPr lang="en-US" sz="1500" dirty="0">
                <a:solidFill>
                  <a:srgbClr val="AEB8D8"/>
                </a:solidFill>
              </a:rPr>
              <a:t>Three things that were not possible with a fixed set</a:t>
            </a:r>
            <a:endParaRPr lang="en-US" sz="1500" dirty="0"/>
          </a:p>
        </p:txBody>
      </p:sp>
      <p:sp>
        <p:nvSpPr>
          <p:cNvPr id="4" name="n0"/>
          <p:cNvSpPr/>
          <p:nvPr/>
        </p:nvSpPr>
        <p:spPr>
          <a:xfrm>
            <a:off x="640080" y="2194560"/>
            <a:ext cx="5193792" cy="1691640"/>
          </a:xfrm>
          <a:prstGeom prst="roundRect">
            <a:avLst>
              <a:gd name="adj" fmla="val 4324"/>
            </a:avLst>
          </a:prstGeom>
          <a:solidFill>
            <a:srgbClr val="232942"/>
          </a:solidFill>
          <a:ln w="12700">
            <a:solidFill>
              <a:srgbClr val="343B5C"/>
            </a:solidFill>
            <a:prstDash val="solid"/>
          </a:ln>
        </p:spPr>
      </p:sp>
      <p:sp>
        <p:nvSpPr>
          <p:cNvPr id="5" name="Text 3"/>
          <p:cNvSpPr txBox="1"/>
          <p:nvPr/>
        </p:nvSpPr>
        <p:spPr>
          <a:xfrm>
            <a:off x="987552" y="2395728"/>
            <a:ext cx="4572000" cy="365760"/>
          </a:xfrm>
          <a:prstGeom prst="rect">
            <a:avLst/>
          </a:prstGeom>
          <a:noFill/>
          <a:ln/>
        </p:spPr>
        <p:txBody>
          <a:bodyPr wrap="square" lIns="0" tIns="0" rIns="0" bIns="0" rtlCol="0" anchor="ctr"/>
          <a:lstStyle/>
          <a:p>
            <a:pPr indent="0" marL="0">
              <a:buNone/>
            </a:pPr>
            <a:r>
              <a:rPr lang="en-US" sz="1600" b="1" dirty="0">
                <a:solidFill>
                  <a:srgbClr val="C8A415"/>
                </a:solidFill>
              </a:rPr>
              <a:t>Unlimited volume</a:t>
            </a:r>
            <a:endParaRPr lang="en-US" sz="1600" dirty="0"/>
          </a:p>
        </p:txBody>
      </p:sp>
      <p:sp>
        <p:nvSpPr>
          <p:cNvPr id="6" name="Text 4"/>
          <p:cNvSpPr txBox="1"/>
          <p:nvPr/>
        </p:nvSpPr>
        <p:spPr>
          <a:xfrm>
            <a:off x="987552" y="2816352"/>
            <a:ext cx="4526280" cy="960120"/>
          </a:xfrm>
          <a:prstGeom prst="rect">
            <a:avLst/>
          </a:prstGeom>
          <a:noFill/>
          <a:ln/>
        </p:spPr>
        <p:txBody>
          <a:bodyPr wrap="square" lIns="0" tIns="0" rIns="0" bIns="0" rtlCol="0" anchor="ctr"/>
          <a:lstStyle/>
          <a:p>
            <a:pPr indent="0" marL="0">
              <a:buNone/>
            </a:pPr>
            <a:r>
              <a:rPr lang="en-US" sz="1200" dirty="0">
                <a:solidFill>
                  <a:srgbClr val="AEB8D8"/>
                </a:solidFill>
              </a:rPr>
              <a:t>Run the simulation as long as you like without the same email arriving twice. No more contradictory answers from repeats.</a:t>
            </a:r>
            <a:endParaRPr lang="en-US" sz="1200" dirty="0"/>
          </a:p>
        </p:txBody>
      </p:sp>
      <p:sp>
        <p:nvSpPr>
          <p:cNvPr id="7" name="n1"/>
          <p:cNvSpPr/>
          <p:nvPr/>
        </p:nvSpPr>
        <p:spPr>
          <a:xfrm>
            <a:off x="6355080" y="2194560"/>
            <a:ext cx="5193792" cy="1691640"/>
          </a:xfrm>
          <a:prstGeom prst="roundRect">
            <a:avLst>
              <a:gd name="adj" fmla="val 4324"/>
            </a:avLst>
          </a:prstGeom>
          <a:solidFill>
            <a:srgbClr val="232942"/>
          </a:solidFill>
          <a:ln w="12700">
            <a:solidFill>
              <a:srgbClr val="343B5C"/>
            </a:solidFill>
            <a:prstDash val="solid"/>
          </a:ln>
        </p:spPr>
      </p:sp>
      <p:sp>
        <p:nvSpPr>
          <p:cNvPr id="8" name="Text 6"/>
          <p:cNvSpPr txBox="1"/>
          <p:nvPr/>
        </p:nvSpPr>
        <p:spPr>
          <a:xfrm>
            <a:off x="6702552" y="2395728"/>
            <a:ext cx="4572000" cy="365760"/>
          </a:xfrm>
          <a:prstGeom prst="rect">
            <a:avLst/>
          </a:prstGeom>
          <a:noFill/>
          <a:ln/>
        </p:spPr>
        <p:txBody>
          <a:bodyPr wrap="square" lIns="0" tIns="0" rIns="0" bIns="0" rtlCol="0" anchor="ctr"/>
          <a:lstStyle/>
          <a:p>
            <a:pPr indent="0" marL="0">
              <a:buNone/>
            </a:pPr>
            <a:r>
              <a:rPr lang="en-US" sz="1600" b="1" dirty="0">
                <a:solidFill>
                  <a:srgbClr val="C8A415"/>
                </a:solidFill>
              </a:rPr>
              <a:t>A real generalisation test</a:t>
            </a:r>
            <a:endParaRPr lang="en-US" sz="1600" dirty="0"/>
          </a:p>
        </p:txBody>
      </p:sp>
      <p:sp>
        <p:nvSpPr>
          <p:cNvPr id="9" name="Text 7"/>
          <p:cNvSpPr txBox="1"/>
          <p:nvPr/>
        </p:nvSpPr>
        <p:spPr>
          <a:xfrm>
            <a:off x="6702552" y="2816352"/>
            <a:ext cx="4526280" cy="960120"/>
          </a:xfrm>
          <a:prstGeom prst="rect">
            <a:avLst/>
          </a:prstGeom>
          <a:noFill/>
          <a:ln/>
        </p:spPr>
        <p:txBody>
          <a:bodyPr wrap="square" lIns="0" tIns="0" rIns="0" bIns="0" rtlCol="0" anchor="ctr"/>
          <a:lstStyle/>
          <a:p>
            <a:pPr indent="0" marL="0">
              <a:buNone/>
            </a:pPr>
            <a:r>
              <a:rPr lang="en-US" sz="1200" dirty="0">
                <a:solidFill>
                  <a:srgbClr val="AEB8D8"/>
                </a:solidFill>
              </a:rPr>
              <a:t>The model can be tested on emails that did not exist when it was trained - the only honest way to ask whether it learned anything.</a:t>
            </a:r>
            <a:endParaRPr lang="en-US" sz="1200" dirty="0"/>
          </a:p>
        </p:txBody>
      </p:sp>
      <p:sp>
        <p:nvSpPr>
          <p:cNvPr id="10" name="n2"/>
          <p:cNvSpPr/>
          <p:nvPr/>
        </p:nvSpPr>
        <p:spPr>
          <a:xfrm>
            <a:off x="640080" y="4160520"/>
            <a:ext cx="5193792" cy="1691640"/>
          </a:xfrm>
          <a:prstGeom prst="roundRect">
            <a:avLst>
              <a:gd name="adj" fmla="val 4324"/>
            </a:avLst>
          </a:prstGeom>
          <a:solidFill>
            <a:srgbClr val="232942"/>
          </a:solidFill>
          <a:ln w="12700">
            <a:solidFill>
              <a:srgbClr val="343B5C"/>
            </a:solidFill>
            <a:prstDash val="solid"/>
          </a:ln>
        </p:spPr>
      </p:sp>
      <p:sp>
        <p:nvSpPr>
          <p:cNvPr id="11" name="Text 9"/>
          <p:cNvSpPr txBox="1"/>
          <p:nvPr/>
        </p:nvSpPr>
        <p:spPr>
          <a:xfrm>
            <a:off x="987552" y="4361688"/>
            <a:ext cx="4572000" cy="365760"/>
          </a:xfrm>
          <a:prstGeom prst="rect">
            <a:avLst/>
          </a:prstGeom>
          <a:noFill/>
          <a:ln/>
        </p:spPr>
        <p:txBody>
          <a:bodyPr wrap="square" lIns="0" tIns="0" rIns="0" bIns="0" rtlCol="0" anchor="ctr"/>
          <a:lstStyle/>
          <a:p>
            <a:pPr indent="0" marL="0">
              <a:buNone/>
            </a:pPr>
            <a:r>
              <a:rPr lang="en-US" sz="1600" b="1" dirty="0">
                <a:solidFill>
                  <a:srgbClr val="C8A415"/>
                </a:solidFill>
              </a:rPr>
              <a:t>Duplicate checking</a:t>
            </a:r>
            <a:endParaRPr lang="en-US" sz="1600" dirty="0"/>
          </a:p>
        </p:txBody>
      </p:sp>
      <p:sp>
        <p:nvSpPr>
          <p:cNvPr id="12" name="Text 10"/>
          <p:cNvSpPr txBox="1"/>
          <p:nvPr/>
        </p:nvSpPr>
        <p:spPr>
          <a:xfrm>
            <a:off x="987552" y="4782312"/>
            <a:ext cx="4526280" cy="960120"/>
          </a:xfrm>
          <a:prstGeom prst="rect">
            <a:avLst/>
          </a:prstGeom>
          <a:noFill/>
          <a:ln/>
        </p:spPr>
        <p:txBody>
          <a:bodyPr wrap="square" lIns="0" tIns="0" rIns="0" bIns="0" rtlCol="0" anchor="ctr"/>
          <a:lstStyle/>
          <a:p>
            <a:pPr indent="0" marL="0">
              <a:buNone/>
            </a:pPr>
            <a:r>
              <a:rPr lang="en-US" sz="1200" dirty="0">
                <a:solidFill>
                  <a:srgbClr val="AEB8D8"/>
                </a:solidFill>
              </a:rPr>
              <a:t>Every generated email is compared against everything already made and against the static 51. Too similar, and it is rebuilt.</a:t>
            </a:r>
            <a:endParaRPr lang="en-US" sz="1200" dirty="0"/>
          </a:p>
        </p:txBody>
      </p:sp>
      <p:sp>
        <p:nvSpPr>
          <p:cNvPr id="13" name="n3"/>
          <p:cNvSpPr/>
          <p:nvPr/>
        </p:nvSpPr>
        <p:spPr>
          <a:xfrm>
            <a:off x="6355080" y="4160520"/>
            <a:ext cx="5193792" cy="1691640"/>
          </a:xfrm>
          <a:prstGeom prst="roundRect">
            <a:avLst>
              <a:gd name="adj" fmla="val 4324"/>
            </a:avLst>
          </a:prstGeom>
          <a:solidFill>
            <a:srgbClr val="232942"/>
          </a:solidFill>
          <a:ln w="12700">
            <a:solidFill>
              <a:srgbClr val="343B5C"/>
            </a:solidFill>
            <a:prstDash val="solid"/>
          </a:ln>
        </p:spPr>
      </p:sp>
      <p:sp>
        <p:nvSpPr>
          <p:cNvPr id="14" name="Text 12"/>
          <p:cNvSpPr txBox="1"/>
          <p:nvPr/>
        </p:nvSpPr>
        <p:spPr>
          <a:xfrm>
            <a:off x="6702552" y="4361688"/>
            <a:ext cx="4572000" cy="365760"/>
          </a:xfrm>
          <a:prstGeom prst="rect">
            <a:avLst/>
          </a:prstGeom>
          <a:noFill/>
          <a:ln/>
        </p:spPr>
        <p:txBody>
          <a:bodyPr wrap="square" lIns="0" tIns="0" rIns="0" bIns="0" rtlCol="0" anchor="ctr"/>
          <a:lstStyle/>
          <a:p>
            <a:pPr indent="0" marL="0">
              <a:buNone/>
            </a:pPr>
            <a:r>
              <a:rPr lang="en-US" sz="1600" b="1" dirty="0">
                <a:solidFill>
                  <a:srgbClr val="C8A415"/>
                </a:solidFill>
              </a:rPr>
              <a:t>Still open</a:t>
            </a:r>
            <a:endParaRPr lang="en-US" sz="1600" dirty="0"/>
          </a:p>
        </p:txBody>
      </p:sp>
      <p:sp>
        <p:nvSpPr>
          <p:cNvPr id="15" name="Text 13"/>
          <p:cNvSpPr txBox="1"/>
          <p:nvPr/>
        </p:nvSpPr>
        <p:spPr>
          <a:xfrm>
            <a:off x="6702552" y="4782312"/>
            <a:ext cx="4526280" cy="960120"/>
          </a:xfrm>
          <a:prstGeom prst="rect">
            <a:avLst/>
          </a:prstGeom>
          <a:noFill/>
          <a:ln/>
        </p:spPr>
        <p:txBody>
          <a:bodyPr wrap="square" lIns="0" tIns="0" rIns="0" bIns="0" rtlCol="0" anchor="ctr"/>
          <a:lstStyle/>
          <a:p>
            <a:pPr indent="0" marL="0">
              <a:buNone/>
            </a:pPr>
            <a:r>
              <a:rPr lang="en-US" sz="1200" dirty="0">
                <a:solidFill>
                  <a:srgbClr val="AEB8D8"/>
                </a:solidFill>
              </a:rPr>
              <a:t>A language model in place of the templates would vary the wording too. The seam is one function, generate_body().</a:t>
            </a:r>
            <a:endParaRPr lang="en-US" sz="1200" dirty="0"/>
          </a:p>
        </p:txBody>
      </p:sp>
    </p:spTree>
  </p:cSld>
  <p:clrMapOvr>
    <a:masterClrMapping/>
  </p:clrMapOvr>
</p:sld>
</file>

<file path=ppt/theme/theme1.xml><?xml version="1.0" encoding="utf-8"?>
<a:theme xmlns:a="http://schemas.openxmlformats.org/drawingml/2006/main" name="Phishing Twin">
  <a:themeElements>
    <a:clrScheme name="Phishing Twin">
      <a:dk1>
        <a:srgbClr val="1A1F2E"/>
      </a:dk1>
      <a:lt1>
        <a:srgbClr val="FFFFFF"/>
      </a:lt1>
      <a:dk2>
        <a:srgbClr val="2F3C7E"/>
      </a:dk2>
      <a:lt2>
        <a:srgbClr val="F2F4F8"/>
      </a:lt2>
      <a:accent1>
        <a:srgbClr val="990011"/>
      </a:accent1>
      <a:accent2>
        <a:srgbClr val="2F3C7E"/>
      </a:accent2>
      <a:accent3>
        <a:srgbClr val="0E7C66"/>
      </a:accent3>
      <a:accent4>
        <a:srgbClr val="C8A415"/>
      </a:accent4>
      <a:accent5>
        <a:srgbClr val="5A6478"/>
      </a:accent5>
      <a:accent6>
        <a:srgbClr val="7A1020"/>
      </a:accent6>
      <a:hlink>
        <a:srgbClr val="2F3C7E"/>
      </a:hlink>
      <a:folHlink>
        <a:srgbClr val="5A6478"/>
      </a:folHlink>
    </a:clrScheme>
    <a:fontScheme name="Phishing 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vs Dynamic Emails</dc:title>
  <dc:subject>PptxGenJS Presentation</dc:subject>
  <dc:creator>Vivek Solanki</dc:creator>
  <cp:lastModifiedBy>Vivek Solanki</cp:lastModifiedBy>
  <cp:revision>1</cp:revision>
  <dcterms:created xsi:type="dcterms:W3CDTF">2026-10-26T17:25:05Z</dcterms:created>
  <dcterms:modified xsi:type="dcterms:W3CDTF">2026-10-26T17:25:05Z</dcterms:modified>
</cp:coreProperties>
</file>