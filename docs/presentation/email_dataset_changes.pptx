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3dfe773-86ef-e8dc-47b5-091022a1bac8}">
          <p14:sldIdLst>
            <p14:sldId id="256"/>
          </p14:sldIdLst>
        </p14:section>
        <p14:section name="Problem" id="{09d509ee-83e0-9c04-bd0e-a808d3f31902}">
          <p14:sldIdLst>
            <p14:sldId id="257"/>
          </p14:sldIdLst>
        </p14:section>
        <p14:section name="Changes" id="{b4b4e01f-f6e3-bbd6-7957-1ca0a0539370}">
          <p14:sldIdLst>
            <p14:sldId id="258"/>
            <p14:sldId id="259"/>
            <p14:sldId id="260"/>
            <p14:sldId id="261"/>
          </p14:sldIdLst>
        </p14:section>
        <p14:section name="Examples" id="{153667a4-40a9-3819-b4bf-54f575bed8bd}">
          <p14:sldIdLst>
            <p14:sldId id="262"/>
            <p14:sldId id="263"/>
            <p14:sldId id="264"/>
            <p14:sldId id="265"/>
          </p14:sldIdLst>
        </p14:section>
        <p14:section name="Result" id="{d350bbee-95da-6506-b8fe-6aa22dca85e8}">
          <p14:sldIdLst>
            <p14:sldId id="266"/>
            <p14:sldId id="267"/>
          </p14:sldIdLst>
        </p14:section>
        <p14:section name="Closing" id="{8b7bac16-e237-54a8-550f-9c6089303fc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drives a simulation where a digital twin predicts whether each staff member clicks, reports or ignores an email. This deck covers what changed in the email set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problems. The second one matters most: if every phishing email has a lookalike domain, the simulation only ever teaches one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four is the one that changes the difficulty of the whole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from the Week 7 notes, including the bank vault analogy. For any attack, ask which of the three it broke.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of the twenty rows can arrive in an inbox. Those eleven are all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fields come from the course table so the vocabulary matches the lecture exactly. The last four exist so hovering and header-checking can be taught.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Before, one glance at the domain solved it. After, you have to check the Reply-To or hover the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 of the twenty-six still use lookalike domains, so both tells get taught: the easy one and the hard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pair is the sharpest teaching moment in the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screenshot this came from was a real phish. Note that not one of the eight red flags is the sender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cue balance matters because the twin learns a separate click-probability per cue.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slide. The two that matter most for reading the dataset are cue and hidden_probs: the twin learns per cue, and never sees hidden_probs.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extension points rather than a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83080"/>
            <a:ext cx="10908792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981151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651760"/>
            <a:ext cx="10908792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908792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1783080"/>
            <a:ext cx="10908792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HIM 1055  ·  IT APPLICATIONS FOR HEALTH  ·  WEEKS 7-8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224028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Rebuilding the Phishing Email Dataset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640080" y="3703320"/>
            <a:ext cx="981151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Every simulated email now maps to a row in the course attack taxonomy</a:t>
            </a:r>
            <a:endParaRPr lang="en-US" dirty="0"/>
          </a:p>
        </p:txBody>
      </p:sp>
      <p:sp>
        <p:nvSpPr>
          <p:cNvPr id="5" name="Text 3"/>
          <p:cNvSpPr/>
          <p:nvPr>
            <p:ph hasCustomPrompt="1"/>
          </p:nvPr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Ashbrook General Hospital digital-twin simulation   ·   51 emails   ·   11 techniques</a:t>
            </a:r>
            <a:endParaRPr lang="en-US" dirty="0"/>
          </a:p>
        </p:txBody>
      </p:sp>
      <p:sp>
        <p:nvSpPr>
          <p:cNvPr id="6" name="rule"/>
          <p:cNvSpPr/>
          <p:nvPr/>
        </p:nvSpPr>
        <p:spPr>
          <a:xfrm>
            <a:off x="640080" y="5029200"/>
            <a:ext cx="1463040" cy="45720"/>
          </a:xfrm>
          <a:prstGeom prst="rect">
            <a:avLst/>
          </a:prstGeom>
          <a:solidFill>
            <a:srgbClr val="99001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Where we started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original set worked, but nothing tied it to the course and the phishing was too easy to spot</a:t>
            </a:r>
            <a:endParaRPr lang="en-US" dirty="0"/>
          </a:p>
        </p:txBody>
      </p:sp>
      <p:sp>
        <p:nvSpPr>
          <p:cNvPr id="4" name="prob-0"/>
          <p:cNvSpPr/>
          <p:nvPr/>
        </p:nvSpPr>
        <p:spPr>
          <a:xfrm>
            <a:off x="640080" y="1691640"/>
            <a:ext cx="5193792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disc-1"/>
          <p:cNvSpPr/>
          <p:nvPr/>
        </p:nvSpPr>
        <p:spPr>
          <a:xfrm>
            <a:off x="932688" y="198424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40 emails, no taxonomy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4144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Nothing connected an email to an attack type, a CIA impact, or a defense.</a:t>
            </a:r>
            <a:endParaRPr lang="en-US" sz="1300" dirty="0"/>
          </a:p>
        </p:txBody>
      </p:sp>
      <p:sp>
        <p:nvSpPr>
          <p:cNvPr id="9" name="prob-1"/>
          <p:cNvSpPr/>
          <p:nvPr/>
        </p:nvSpPr>
        <p:spPr>
          <a:xfrm>
            <a:off x="6355080" y="1691640"/>
            <a:ext cx="5193792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0" name="disc-2"/>
          <p:cNvSpPr/>
          <p:nvPr/>
        </p:nvSpPr>
        <p:spPr>
          <a:xfrm>
            <a:off x="6647688" y="198424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4768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65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Every phish used a fake domain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44144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One giveaway in every message. Spot the domain, pass the test.</a:t>
            </a:r>
            <a:endParaRPr lang="en-US" sz="1300" dirty="0"/>
          </a:p>
        </p:txBody>
      </p:sp>
      <p:sp>
        <p:nvSpPr>
          <p:cNvPr id="14" name="prob-2"/>
          <p:cNvSpPr/>
          <p:nvPr/>
        </p:nvSpPr>
        <p:spPr>
          <a:xfrm>
            <a:off x="640080" y="3749040"/>
            <a:ext cx="5193792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5" name="disc-3"/>
          <p:cNvSpPr/>
          <p:nvPr/>
        </p:nvSpPr>
        <p:spPr>
          <a:xfrm>
            <a:off x="932688" y="404164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233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Thin, generic bodies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49884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“Hello,” with no names, units, wards or references to real work.</a:t>
            </a:r>
            <a:endParaRPr lang="en-US" sz="1300" dirty="0"/>
          </a:p>
        </p:txBody>
      </p:sp>
      <p:sp>
        <p:nvSpPr>
          <p:cNvPr id="19" name="prob-3"/>
          <p:cNvSpPr/>
          <p:nvPr/>
        </p:nvSpPr>
        <p:spPr>
          <a:xfrm>
            <a:off x="6355080" y="3749040"/>
            <a:ext cx="5193792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20" name="disc-4"/>
          <p:cNvSpPr/>
          <p:nvPr/>
        </p:nvSpPr>
        <p:spPr>
          <a:xfrm>
            <a:off x="6647688" y="404164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4768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0233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Stale target roles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49884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Roles predated the 5-pillar, 25-person workforce the project now uses.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changed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Four moves, all driven by the Weeks 7-8 comparison table and one captured real-world sample</a:t>
            </a:r>
            <a:endParaRPr lang="en-US" dirty="0"/>
          </a:p>
        </p:txBody>
      </p:sp>
      <p:sp>
        <p:nvSpPr>
          <p:cNvPr id="4" name="disc-1"/>
          <p:cNvSpPr/>
          <p:nvPr/>
        </p:nvSpPr>
        <p:spPr>
          <a:xfrm>
            <a:off x="640080" y="1737360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700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Tagged every email to the taxonomy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82496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technique, table row, week, CIA hit and key defense on all 51 emails — copied from the course table, not invented.</a:t>
            </a:r>
            <a:endParaRPr lang="en-US" sz="1300" dirty="0"/>
          </a:p>
        </p:txBody>
      </p:sp>
      <p:sp>
        <p:nvSpPr>
          <p:cNvPr id="8" name="disc-2"/>
          <p:cNvSpPr/>
          <p:nvPr/>
        </p:nvSpPr>
        <p:spPr>
          <a:xfrm>
            <a:off x="640080" y="2907792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871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Rebuilt every subject and body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85292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Real staff names, wards and reporting lines: Carol Mendes, Richard Vance, Dr. Watanabe, Ward 4.</a:t>
            </a:r>
            <a:endParaRPr lang="en-US" sz="1300" dirty="0"/>
          </a:p>
        </p:txBody>
      </p:sp>
      <p:sp>
        <p:nvSpPr>
          <p:cNvPr id="12" name="disc-3"/>
          <p:cNvSpPr/>
          <p:nvPr/>
        </p:nvSpPr>
        <p:spPr>
          <a:xfrm>
            <a:off x="640080" y="4078224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041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Added header-level tells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40233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reply_to, link_text and link_target make “hover before clicking” something the simulation can actually test.</a:t>
            </a:r>
            <a:endParaRPr lang="en-US" sz="1300" dirty="0"/>
          </a:p>
        </p:txBody>
      </p:sp>
      <p:sp>
        <p:nvSpPr>
          <p:cNvPr id="16" name="disc-4"/>
          <p:cNvSpPr/>
          <p:nvPr/>
        </p:nvSpPr>
        <p:spPr>
          <a:xfrm>
            <a:off x="640080" y="5248656"/>
            <a:ext cx="475488" cy="47548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248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Spoofed the hospital's own domain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5193792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Six phishing emails now arrive from @ashbrookgeneral.example, because a From line can be forged.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the CIA triad means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three things every security control protects. Each email records which one the attack breaks</a:t>
            </a:r>
            <a:endParaRPr lang="en-US" dirty="0"/>
          </a:p>
        </p:txBody>
      </p:sp>
      <p:sp>
        <p:nvSpPr>
          <p:cNvPr id="4" name="cia-0"/>
          <p:cNvSpPr/>
          <p:nvPr/>
        </p:nvSpPr>
        <p:spPr>
          <a:xfrm>
            <a:off x="640080" y="178308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cial-0"/>
          <p:cNvSpPr/>
          <p:nvPr/>
        </p:nvSpPr>
        <p:spPr>
          <a:xfrm>
            <a:off x="932688" y="2011680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011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130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</a:rPr>
              <a:t>Confidentiality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788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Only the right people can see the data.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5204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</a:rPr>
              <a:t>A stolen password threatens confidentiality.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4206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</a:rPr>
              <a:t>25 of 26 phishing emails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every credential and data-theft lure</a:t>
            </a:r>
            <a:endParaRPr lang="en-US" sz="1200" dirty="0"/>
          </a:p>
        </p:txBody>
      </p:sp>
      <p:sp>
        <p:nvSpPr>
          <p:cNvPr id="11" name="cia-1"/>
          <p:cNvSpPr/>
          <p:nvPr/>
        </p:nvSpPr>
        <p:spPr>
          <a:xfrm>
            <a:off x="4370832" y="178308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2" name="cial-1"/>
          <p:cNvSpPr/>
          <p:nvPr/>
        </p:nvSpPr>
        <p:spPr>
          <a:xfrm>
            <a:off x="4663440" y="2011680"/>
            <a:ext cx="621792" cy="621792"/>
          </a:xfrm>
          <a:prstGeom prst="ellipse">
            <a:avLst/>
          </a:prstGeom>
          <a:solidFill>
            <a:srgbClr val="C8A41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011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130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</a:rPr>
              <a:t>Integrity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788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The data is accurate and has not been tampered with.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5204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</a:rPr>
              <a:t>Altered lab results threaten integrity.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206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15"/>
                </a:solidFill>
              </a:rPr>
              <a:t>4 emails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Malware and Baiting</a:t>
            </a:r>
            <a:endParaRPr lang="en-US" sz="1200" dirty="0"/>
          </a:p>
        </p:txBody>
      </p:sp>
      <p:sp>
        <p:nvSpPr>
          <p:cNvPr id="18" name="cia-2"/>
          <p:cNvSpPr/>
          <p:nvPr/>
        </p:nvSpPr>
        <p:spPr>
          <a:xfrm>
            <a:off x="8101584" y="178308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9" name="cial-2"/>
          <p:cNvSpPr/>
          <p:nvPr/>
        </p:nvSpPr>
        <p:spPr>
          <a:xfrm>
            <a:off x="8394192" y="2011680"/>
            <a:ext cx="621792" cy="62179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94192" y="2011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5712" y="2130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</a:rPr>
              <a:t>Availability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2788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The system and data are there when you need them.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35204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</a:rPr>
              <a:t>A ransomware lockout threatens availability.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4206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</a:rPr>
              <a:t>5 emails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Ransomware, Malware, supply chain</a:t>
            </a:r>
            <a:endParaRPr lang="en-US" sz="1200" dirty="0"/>
          </a:p>
        </p:txBody>
      </p:sp>
      <p:sp>
        <p:nvSpPr>
          <p:cNvPr id="25" name="vaultnote"/>
          <p:cNvSpPr/>
          <p:nvPr/>
        </p:nvSpPr>
        <p:spPr>
          <a:xfrm>
            <a:off x="640080" y="5193792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A1F2E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05840" y="5193792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A415"/>
                </a:solidFill>
              </a:rPr>
              <a:t>Think of a bank vault.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The combination is confidentiality, the tamper seal is integrity, and the opening hours are availability.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Phishing mapped to the course table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All 26 phishing emails carry the row number, CIA hit and key defense from the Weeks 7-8 comparison table</a:t>
            </a:r>
            <a:endParaRPr lang="en-US" dirty="0"/>
          </a:p>
        </p:txBody>
      </p:sp>
      <p:graphicFrame>
        <p:nvGraphicFramePr>
          <p:cNvPr id="6" name="taxonom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1737360"/>
          <a:ext cx="969264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463040"/>
                <a:gridCol w="2103120"/>
                <a:gridCol w="1463040"/>
              </a:tblGrid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CIA hit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 phishing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Pretexting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+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I,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/ supply 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+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Quid pro quo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Extortion / blackmail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234440" y="54864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</a:rPr>
              <a:t>C = Confidentiality   ·   I = Integrity   ·   A = Availability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</a:rPr>
              <a:t>Tailgating (15) and vishing (16) are excluded — physical and phone, so neither has an email form.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Ten new fields on every email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Six copied straight from the course table; four added so the simulation can test what a reader actually checks</a:t>
            </a:r>
            <a:endParaRPr lang="en-US" dirty="0"/>
          </a:p>
        </p:txBody>
      </p:sp>
      <p:graphicFrame>
        <p:nvGraphicFramePr>
          <p:cNvPr id="7" name="schem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74520"/>
          <a:ext cx="1033272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691640"/>
                <a:gridCol w="621792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  (example: E07, the fake CMO)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technique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technique_category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engineering (executives)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table_row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week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cia_hit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Confidentiality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key_defense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unusual requests, especially urgent 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teaches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line naming the lesson the email carries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reply_to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ashbrookgeneral-medstaff.example — the header 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link_text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“Attest here” — what the reader sees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link_target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really goes, found by hovering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</a:rPr>
              <a:t>The old set had 11 fields and none of this. Nothing the simulation reads — label, cue, target_role — was changed.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One email, before and after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E01 — “Your password expires today”, the course table's own example of phishing</a:t>
            </a:r>
            <a:endParaRPr lang="en-US" dirty="0"/>
          </a:p>
        </p:txBody>
      </p:sp>
      <p:graphicFrame>
        <p:nvGraphicFramePr>
          <p:cNvPr id="8" name="beforeaft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591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069080"/>
                <a:gridCol w="48737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it-helpdesk@ashbrook-support.example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it-helpdesk@ashbrookgeneral.example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Reply-To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helpdesk.support@mail-ashbrook-it.example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URL pasted in the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“Renew your password”, hiding ashbrook-support.example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 red 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“lookalike domain”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 From line can be forged, so it proves nothing”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Taxonomy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· row 10 · C · hover before clicking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48920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</a:rPr>
              <a:t>The sender moved from an obvious fake onto the hospital's real domain, so the tell moved into the Reply-To and the link.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Six phishing emails now come from inside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One per cue. Every From line below passes a domain check — the giveaway sits in the Reply-To</a:t>
            </a:r>
            <a:endParaRPr lang="en-US" dirty="0"/>
          </a:p>
        </p:txBody>
      </p:sp>
      <p:graphicFrame>
        <p:nvGraphicFramePr>
          <p:cNvPr id="9" name="spoof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508760"/>
                <a:gridCol w="4206240"/>
                <a:gridCol w="3931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 (looks genuine)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Reply-To  (the tell)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it_login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it-helpdesk@ashbrookgeneral.example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mail-ashbrook-it.example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cmo.office@ashbrookgeneral.example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ashbrookgeneral-medstaff.example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labresults@ashbrookgeneral.example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ashbrook-labs-notify.example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hr_payroll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payroll@ashbrookgeneral.example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ashbrookgeneral-hr.example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vendor.relations@ashbrookgeneral.example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ashbrookgeneral-finance.example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hr_payroll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hr@ashbrookgeneral.example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ashbrook-hrportal.example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</a:rPr>
              <a:t>E23 is framed as a compromised internal mailbox rather than a lookalike — which is how vendor fraud actually arrives.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pair that proves the point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E16 and E26 have a byte-identical From address. Only the content separates them</a:t>
            </a:r>
            <a:endParaRPr lang="en-US" dirty="0"/>
          </a:p>
        </p:txBody>
      </p:sp>
      <p:sp>
        <p:nvSpPr>
          <p:cNvPr id="4" name="pair-0"/>
          <p:cNvSpPr/>
          <p:nvPr/>
        </p:nvSpPr>
        <p:spPr>
          <a:xfrm>
            <a:off x="640080" y="1691640"/>
            <a:ext cx="5193792" cy="3291840"/>
          </a:xfrm>
          <a:prstGeom prst="roundRect">
            <a:avLst>
              <a:gd name="adj" fmla="val 2222"/>
            </a:avLst>
          </a:prstGeom>
          <a:solidFill>
            <a:srgbClr val="FBF2F3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90011"/>
                </a:solidFill>
              </a:rPr>
              <a:t>PHISHING  ·  E16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76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payroll@ashbrookgeneral.example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054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F2E"/>
                </a:solidFill>
              </a:rPr>
              <a:t>Problem with this month's salary payment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</a:rPr>
              <a:t>Reply-To: ashbrookgeneral-hr.example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</a:rPr>
              <a:t>Asks you to confirm bank details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</a:rPr>
              <a:t>Link hidden behind “Confirm details”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</a:rPr>
              <a:t>“Do not reply” blocks the obvious check</a:t>
            </a:r>
            <a:endParaRPr lang="en-US" sz="1250" dirty="0"/>
          </a:p>
        </p:txBody>
      </p:sp>
      <p:sp>
        <p:nvSpPr>
          <p:cNvPr id="9" name="pair-1"/>
          <p:cNvSpPr/>
          <p:nvPr/>
        </p:nvSpPr>
        <p:spPr>
          <a:xfrm>
            <a:off x="6355080" y="1691640"/>
            <a:ext cx="5193792" cy="3291840"/>
          </a:xfrm>
          <a:prstGeom prst="roundRect">
            <a:avLst>
              <a:gd name="adj" fmla="val 2222"/>
            </a:avLst>
          </a:prstGeom>
          <a:solidFill>
            <a:srgbClr val="EEF6F3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6"/>
                </a:solidFill>
              </a:rPr>
              <a:t>LEGITIMATE  ·  E26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76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payroll@ashbrookgeneral.example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5054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F2E"/>
                </a:solidFill>
              </a:rPr>
              <a:t>Your October payslip is available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1546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</a:rPr>
              <a:t>No Reply-To mismatch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</a:rPr>
              <a:t>Points to the Staff Portal, no link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</a:rPr>
              <a:t>“We never ask for your bank details by email”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</a:rPr>
              <a:t>Gives extension 4125 to call</a:t>
            </a:r>
            <a:endParaRPr lang="en-US" sz="1250" dirty="0"/>
          </a:p>
        </p:txBody>
      </p:sp>
      <p:sp>
        <p:nvSpPr>
          <p:cNvPr id="14" name="pairnote"/>
          <p:cNvSpPr/>
          <p:nvPr/>
        </p:nvSpPr>
        <p:spPr>
          <a:xfrm>
            <a:off x="640080" y="5230368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1A1F2E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5230368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Same From address. The domain proves nothing — which is exactly the lesson a lookalike domain can never teach.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Built from a real captured phish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E51 reproduces a genuine sample: no name, no subject, no reason given — vagueness is the whole design</a:t>
            </a:r>
            <a:endParaRPr lang="en-US" dirty="0"/>
          </a:p>
        </p:txBody>
      </p:sp>
      <p:sp>
        <p:nvSpPr>
          <p:cNvPr id="4" name="mock"/>
          <p:cNvSpPr/>
          <p:nvPr/>
        </p:nvSpPr>
        <p:spPr>
          <a:xfrm>
            <a:off x="640080" y="1737360"/>
            <a:ext cx="5760720" cy="3931920"/>
          </a:xfrm>
          <a:prstGeom prst="roundRect">
            <a:avLst>
              <a:gd name="adj" fmla="val 1860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 </a:t>
            </a:r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Team &lt;hr@ashbrookgeneral.example&gt;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 </a:t>
            </a:r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Team</a:t>
            </a:r>
            <a:endParaRPr lang="en-US" sz="1150" dirty="0"/>
          </a:p>
        </p:txBody>
      </p:sp>
      <p:sp>
        <p:nvSpPr>
          <p:cNvPr id="6" name="hdrline"/>
          <p:cNvSpPr/>
          <p:nvPr/>
        </p:nvSpPr>
        <p:spPr>
          <a:xfrm>
            <a:off x="960120" y="2578608"/>
            <a:ext cx="5120640" cy="10973"/>
          </a:xfrm>
          <a:prstGeom prst="rect">
            <a:avLst/>
          </a:prstGeom>
          <a:solidFill>
            <a:srgbClr val="D5DC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697480"/>
            <a:ext cx="51206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Greetings: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You have a message from the HR Department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u="sng" dirty="0">
                <a:solidFill>
                  <a:srgbClr val="1155CC"/>
                </a:solidFill>
              </a:rPr>
              <a:t>Click here</a:t>
            </a:r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 to view your message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Sincerely,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The Human Resources Talent Acquisition Team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</a:rPr>
              <a:t>This is an automatically generated email, please do not reply.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78308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90011"/>
                </a:solidFill>
              </a:rPr>
              <a:t>EIGHT RED FLAGS, NONE OF THEM THE DOMAIN</a:t>
            </a:r>
            <a:endParaRPr lang="en-US" sz="1100" dirty="0"/>
          </a:p>
        </p:txBody>
      </p:sp>
      <p:sp>
        <p:nvSpPr>
          <p:cNvPr id="9" name="fdot-0"/>
          <p:cNvSpPr/>
          <p:nvPr/>
        </p:nvSpPr>
        <p:spPr>
          <a:xfrm>
            <a:off x="6858000" y="2240280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212848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No name — it went to everyone at once</a:t>
            </a:r>
            <a:endParaRPr lang="en-US" sz="1300" dirty="0"/>
          </a:p>
        </p:txBody>
      </p:sp>
      <p:sp>
        <p:nvSpPr>
          <p:cNvPr id="12" name="fdot-1"/>
          <p:cNvSpPr/>
          <p:nvPr/>
        </p:nvSpPr>
        <p:spPr>
          <a:xfrm>
            <a:off x="6858000" y="2816352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788920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The subject is just “HR Team”</a:t>
            </a:r>
            <a:endParaRPr lang="en-US" sz="1300" dirty="0"/>
          </a:p>
        </p:txBody>
      </p:sp>
      <p:sp>
        <p:nvSpPr>
          <p:cNvPr id="15" name="fdot-2"/>
          <p:cNvSpPr/>
          <p:nvPr/>
        </p:nvSpPr>
        <p:spPr>
          <a:xfrm>
            <a:off x="6858000" y="3392424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364992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Never says what the message is or why</a:t>
            </a:r>
            <a:endParaRPr lang="en-US" sz="1300" dirty="0"/>
          </a:p>
        </p:txBody>
      </p:sp>
      <p:sp>
        <p:nvSpPr>
          <p:cNvPr id="18" name="fdot-3"/>
          <p:cNvSpPr/>
          <p:nvPr/>
        </p:nvSpPr>
        <p:spPr>
          <a:xfrm>
            <a:off x="6858000" y="3968496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3941064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“Click here” hides ashbrook-hrportal.example</a:t>
            </a:r>
            <a:endParaRPr lang="en-US" sz="1300" dirty="0"/>
          </a:p>
        </p:txBody>
      </p:sp>
      <p:sp>
        <p:nvSpPr>
          <p:cNvPr id="21" name="fdot-4"/>
          <p:cNvSpPr/>
          <p:nvPr/>
        </p:nvSpPr>
        <p:spPr>
          <a:xfrm>
            <a:off x="6858000" y="4544568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0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517136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Reply-To is outside, though From is not</a:t>
            </a:r>
            <a:endParaRPr lang="en-US" sz="1300" dirty="0"/>
          </a:p>
        </p:txBody>
      </p:sp>
      <p:sp>
        <p:nvSpPr>
          <p:cNvPr id="24" name="fdot-5"/>
          <p:cNvSpPr/>
          <p:nvPr/>
        </p:nvSpPr>
        <p:spPr>
          <a:xfrm>
            <a:off x="6858000" y="5120640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5093208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E"/>
                </a:solidFill>
              </a:rPr>
              <a:t>“Talent Acquisition” has no reason to write to staff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Where the dataset stands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Balanced across every cue the simulation learns from, and reproducible from one script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8658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emails total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6916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/ 25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38658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phishing / legitimate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6916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8658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techniques covered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16916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38658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from the real domain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004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</a:rPr>
              <a:t>Phishing emails per cue</a:t>
            </a:r>
            <a:endParaRPr lang="en-US" sz="1400" dirty="0"/>
          </a:p>
        </p:txBody>
      </p:sp>
      <p:sp>
        <p:nvSpPr>
          <p:cNvPr id="13" name="cue-0"/>
          <p:cNvSpPr/>
          <p:nvPr/>
        </p:nvSpPr>
        <p:spPr>
          <a:xfrm>
            <a:off x="640080" y="3611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urgency</a:t>
            </a:r>
            <a:endParaRPr lang="en-US" sz="1150" dirty="0"/>
          </a:p>
        </p:txBody>
      </p:sp>
      <p:sp>
        <p:nvSpPr>
          <p:cNvPr id="16" name="cue-1"/>
          <p:cNvSpPr/>
          <p:nvPr/>
        </p:nvSpPr>
        <p:spPr>
          <a:xfrm>
            <a:off x="2852928" y="3611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852928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2852928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authority</a:t>
            </a:r>
            <a:endParaRPr lang="en-US" sz="1150" dirty="0"/>
          </a:p>
        </p:txBody>
      </p:sp>
      <p:sp>
        <p:nvSpPr>
          <p:cNvPr id="19" name="cue-2"/>
          <p:cNvSpPr/>
          <p:nvPr/>
        </p:nvSpPr>
        <p:spPr>
          <a:xfrm>
            <a:off x="5065776" y="3611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065776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065776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it_login</a:t>
            </a:r>
            <a:endParaRPr lang="en-US" sz="1150" dirty="0"/>
          </a:p>
        </p:txBody>
      </p:sp>
      <p:sp>
        <p:nvSpPr>
          <p:cNvPr id="22" name="cue-3"/>
          <p:cNvSpPr/>
          <p:nvPr/>
        </p:nvSpPr>
        <p:spPr>
          <a:xfrm>
            <a:off x="7278624" y="3611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278624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278624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hr_payroll</a:t>
            </a:r>
            <a:endParaRPr lang="en-US" sz="1150" dirty="0"/>
          </a:p>
        </p:txBody>
      </p:sp>
      <p:sp>
        <p:nvSpPr>
          <p:cNvPr id="25" name="cue-4"/>
          <p:cNvSpPr/>
          <p:nvPr/>
        </p:nvSpPr>
        <p:spPr>
          <a:xfrm>
            <a:off x="9491472" y="3611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491472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491472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</a:rPr>
              <a:t>billing</a:t>
            </a:r>
            <a:endParaRPr lang="en-US" sz="1150" dirty="0"/>
          </a:p>
        </p:txBody>
      </p:sp>
      <p:sp>
        <p:nvSpPr>
          <p:cNvPr id="28" name="verified"/>
          <p:cNvSpPr/>
          <p:nvPr/>
        </p:nvSpPr>
        <p:spPr>
          <a:xfrm>
            <a:off x="640080" y="484632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0584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</a:rPr>
              <a:t>Verified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52578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All four test scripts pass  ·  twin runs at 0.099 average error  ·  every link stays .example  ·  no hidden link leaks into its own body  ·  no legitimate email carries a Reply-To mismatch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Terms used in this deck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vocabulary the dataset and the simulation share</a:t>
            </a:r>
            <a:endParaRPr lang="en-US" dirty="0"/>
          </a:p>
        </p:txBody>
      </p:sp>
      <p:graphicFrame>
        <p:nvGraphicFramePr>
          <p:cNvPr id="13" name="glossar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74520"/>
          <a:ext cx="10332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589520"/>
              </a:tblGrid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CIA triad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Confidentiality, Integrity, Availability — the three things a security control protects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pressure an email applies: urgency, authority, it_login, hr_payroll or 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digital twin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predicting click, report or ignore — never shown the person's real probabilities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hidden_probs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person's secret per-cue click chance; the simulated human uses it, the twin cannot see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lookalike domain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sender domain shaped to resemble the real one: ashbrook-support.example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Reply-To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 reply actually goes — often the giveaway when the From line is forged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red_flags / safe_signs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per-email explanation shown after a decision, so a click becomes a lesson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difficulty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or hard — how obvious the tells are in that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.example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reserved domain that cannot resolve, so no link in the dataset is 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this makes possible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D8"/>
                </a:solidFill>
              </a:rPr>
              <a:t>make_emails.py regenerates the whole dataset — adding an email is appending to a list</a:t>
            </a:r>
            <a:endParaRPr lang="en-US" sz="1500" dirty="0"/>
          </a:p>
        </p:txBody>
      </p:sp>
      <p:sp>
        <p:nvSpPr>
          <p:cNvPr id="4" name="next-0"/>
          <p:cNvSpPr/>
          <p:nvPr/>
        </p:nvSpPr>
        <p:spPr>
          <a:xfrm>
            <a:off x="640080" y="219456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2432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415"/>
                </a:solidFill>
              </a:rPr>
              <a:t>Explain any click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87121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8"/>
                </a:solidFill>
              </a:rPr>
              <a:t>Every email carries its technique, CIA hit and key defense, so feedback after a click can name the attack and the defense.</a:t>
            </a:r>
            <a:endParaRPr lang="en-US" sz="1250" dirty="0"/>
          </a:p>
        </p:txBody>
      </p:sp>
      <p:sp>
        <p:nvSpPr>
          <p:cNvPr id="7" name="next-1"/>
          <p:cNvSpPr/>
          <p:nvPr/>
        </p:nvSpPr>
        <p:spPr>
          <a:xfrm>
            <a:off x="6355080" y="219456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2552" y="2432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415"/>
                </a:solidFill>
              </a:rPr>
              <a:t>Teach two tells, not one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702552" y="287121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8"/>
                </a:solidFill>
              </a:rPr>
              <a:t>Lookalike domains and forged From lines both appear, so staff learn to check headers and hover links.</a:t>
            </a:r>
            <a:endParaRPr lang="en-US" sz="1250" dirty="0"/>
          </a:p>
        </p:txBody>
      </p:sp>
      <p:sp>
        <p:nvSpPr>
          <p:cNvPr id="10" name="next-2"/>
          <p:cNvSpPr/>
          <p:nvPr/>
        </p:nvSpPr>
        <p:spPr>
          <a:xfrm>
            <a:off x="640080" y="416052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43982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415"/>
                </a:solidFill>
              </a:rPr>
              <a:t>Extend the twin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83717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8"/>
                </a:solidFill>
              </a:rPr>
              <a:t>It currently learns per cue. The technique tag makes learning per technique the obvious next step.</a:t>
            </a:r>
            <a:endParaRPr lang="en-US" sz="1250" dirty="0"/>
          </a:p>
        </p:txBody>
      </p:sp>
      <p:sp>
        <p:nvSpPr>
          <p:cNvPr id="13" name="next-3"/>
          <p:cNvSpPr/>
          <p:nvPr/>
        </p:nvSpPr>
        <p:spPr>
          <a:xfrm>
            <a:off x="6355080" y="416052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2552" y="43982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415"/>
                </a:solidFill>
              </a:rPr>
              <a:t>Cover the rest of the table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702552" y="483717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8"/>
                </a:solidFill>
              </a:rPr>
              <a:t>A study doc could add tailgating, vishing and romance scams — the rows no inbox can carry.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shing Twin">
  <a:themeElements>
    <a:clrScheme name="Phishing Twin">
      <a:dk1>
        <a:srgbClr val="1A1F2E"/>
      </a:dk1>
      <a:lt1>
        <a:srgbClr val="FFFFFF"/>
      </a:lt1>
      <a:dk2>
        <a:srgbClr val="2F3C7E"/>
      </a:dk2>
      <a:lt2>
        <a:srgbClr val="F2F4F8"/>
      </a:lt2>
      <a:accent1>
        <a:srgbClr val="990011"/>
      </a:accent1>
      <a:accent2>
        <a:srgbClr val="2F3C7E"/>
      </a:accent2>
      <a:accent3>
        <a:srgbClr val="0E7C66"/>
      </a:accent3>
      <a:accent4>
        <a:srgbClr val="C8A415"/>
      </a:accent4>
      <a:accent5>
        <a:srgbClr val="5A6478"/>
      </a:accent5>
      <a:accent6>
        <a:srgbClr val="7A1020"/>
      </a:accent6>
      <a:hlink>
        <a:srgbClr val="2F3C7E"/>
      </a:hlink>
      <a:folHlink>
        <a:srgbClr val="5A6478"/>
      </a:folHlink>
    </a:clrScheme>
    <a:fontScheme name="Phishing 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Rebuilding the Phishing Email Dataset</dc:title>
  <dc:subject>PptxGenJS Presentation</dc:subject>
  <dc:creator>Vivek Solanki</dc:creator>
  <cp:lastModifiedBy>Vivek Solanki</cp:lastModifiedBy>
  <cp:revision>1</cp:revision>
  <dcterms:created xsi:type="dcterms:W3CDTF">2026-10-20T02:40:11Z</dcterms:created>
  <dcterms:modified xsi:type="dcterms:W3CDTF">2026-10-20T02:40:11Z</dcterms:modified>
</cp:coreProperties>
</file>