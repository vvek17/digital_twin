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7c0c3e6a-8d8d-9aff-62fa-071fdda3b1b1}">
          <p14:sldIdLst>
            <p14:sldId id="256"/>
            <p14:sldId id="257"/>
            <p14:sldId id="264"/>
            <p14:sldId id="265"/>
          </p14:sldIdLst>
        </p14:section>
        <p14:section name="Model" id="{249f6600-dff4-cd78-dc19-a6e6180d5f82}">
          <p14:sldIdLst>
            <p14:sldId id="258"/>
          </p14:sldIdLst>
        </p14:section>
        <p14:section name="Emails" id="{29b65390-e478-73ba-9145-3dc84d38f84a}">
          <p14:sldIdLst>
            <p14:sldId id="259"/>
            <p14:sldId id="260"/>
          </p14:sldIdLst>
        </p14:section>
        <p14:section name="History" id="{23a9b15b-c60f-979b-2bf3-ba63e4907c56}">
          <p14:sldIdLst>
            <p14:sldId id="261"/>
            <p14:sldId id="262"/>
          </p14:sldIdLst>
        </p14:section>
        <p14:section name="App" id="{d197d2f9-2f98-49dd-e69d-66817ff138f0}">
          <p14:sldIdLst>
            <p14:sldId id="263"/>
          </p14:sldIdLst>
        </p14:section>
        <p14:section name="Open" id="{201fc007-5810-4165-556c-248c3abcbc7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only the work done after the feedback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input produced a specific, checkable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 never changed. What changed is what feeds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of the twenty rows can arrive in an inbox. All eleven are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Subdomain misdirection was the big gap - the paypal.com.updates-center.xyz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history is what makes the feedback personal rather than generic.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modes exist so the experiment can measure whether feedback changes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view is the one that shows the loop working, email by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thing to decide in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 and the known limitation - both are worth his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83080"/>
            <a:ext cx="10908792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81151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1783080"/>
            <a:ext cx="10908792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HIM 1055  ·  PROGRESS UPDATE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2240280"/>
            <a:ext cx="10908792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Aligning the Simulation to the Course Model</a:t>
            </a:r>
            <a:endParaRPr lang="en-US" dirty="0"/>
          </a:p>
        </p:txBody>
      </p:sp>
      <p:sp>
        <p:nvSpPr>
          <p:cNvPr id="4" name="Text 2"/>
          <p:cNvSpPr/>
          <p:nvPr>
            <p:ph hasCustomPrompt="1"/>
          </p:nvPr>
        </p:nvSpPr>
        <p:spPr>
          <a:xfrm>
            <a:off x="640080" y="3703320"/>
            <a:ext cx="981151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changed after your feedback: the attack taxonomy, the address tricks, and the P(click) model from the diagram</a:t>
            </a:r>
            <a:endParaRPr lang="en-US" dirty="0"/>
          </a:p>
        </p:txBody>
      </p:sp>
      <p:sp>
        <p:nvSpPr>
          <p:cNvPr id="5" name="Text 3"/>
          <p:cNvSpPr/>
          <p:nvPr>
            <p:ph hasCustomPrompt="1"/>
          </p:nvPr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Ashbrook General phishing digital twin   ·   Vivek Solanki</a:t>
            </a:r>
            <a:endParaRPr lang="en-US" dirty="0"/>
          </a:p>
        </p:txBody>
      </p:sp>
      <p:sp>
        <p:nvSpPr>
          <p:cNvPr id="6" name="rule"/>
          <p:cNvSpPr/>
          <p:nvPr/>
        </p:nvSpPr>
        <p:spPr>
          <a:xfrm>
            <a:off x="640080" y="5029200"/>
            <a:ext cx="1463040" cy="45720"/>
          </a:xfrm>
          <a:prstGeom prst="rect">
            <a:avLst/>
          </a:prstGeom>
          <a:solidFill>
            <a:srgbClr val="99001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What you gave us, and what we did with it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Three inputs, each one turned into something concrete in the code</a:t>
            </a:r>
            <a:endParaRPr lang="en-US" dirty="0"/>
          </a:p>
        </p:txBody>
      </p:sp>
      <p:sp>
        <p:nvSpPr>
          <p:cNvPr id="4" name="d12"/>
          <p:cNvSpPr/>
          <p:nvPr/>
        </p:nvSpPr>
        <p:spPr>
          <a:xfrm>
            <a:off x="640080" y="1828800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79222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The Weeks 7-8 comparison table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773936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</a:rPr>
              <a:t>Rebuilt the whole email set around it. Every phishing email now records its technique, table row, CIA hit and key defense.</a:t>
            </a:r>
            <a:endParaRPr lang="en-US" sz="1350" dirty="0"/>
          </a:p>
        </p:txBody>
      </p:sp>
      <p:sp>
        <p:nvSpPr>
          <p:cNvPr id="8" name="d23.45"/>
          <p:cNvSpPr/>
          <p:nvPr/>
        </p:nvSpPr>
        <p:spPr>
          <a:xfrm>
            <a:off x="640080" y="3154680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311810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The architecture diagram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099816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</a:rPr>
              <a:t>Rewrote the model to match: P(click) = a / (a + b), click a++, report b++, everything starting at 0.</a:t>
            </a:r>
            <a:endParaRPr lang="en-US" sz="1350" dirty="0"/>
          </a:p>
        </p:txBody>
      </p:sp>
      <p:sp>
        <p:nvSpPr>
          <p:cNvPr id="12" name="d34.9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80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4439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</a:rPr>
              <a:t>The phishing address reference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4425696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</a:rPr>
              <a:t>Added a second taxonomy for how the sender address lies - eight tricks, including subdomain misdirection.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model now matches the diagram exactly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Three changes were needed. The formula was already right; the inputs to it were not</a:t>
            </a:r>
            <a:endParaRPr lang="en-US" dirty="0"/>
          </a:p>
        </p:txBody>
      </p:sp>
      <p:graphicFrame>
        <p:nvGraphicFramePr>
          <p:cNvPr id="4" name="mod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7259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325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human's options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or ignore only - could never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click, report or ignore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counter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  (did not recognise)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counter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non-click, including ignores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only, per the diagram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counted as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nothing - it is neither arrow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1, b = 1  (guess of 0.50)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0, b = 0  (starts at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(a + 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(a + b)  - unchanged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484632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</a:rPr>
              <a:t>The counters are now literally the diagram's two arrows, and nothing else touches them.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Email set rebuilt from the comparison table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51 emails (26 phishing, 25 legitimate). All 11 inbox-deliverable techniques covered</a:t>
            </a:r>
            <a:endParaRPr lang="en-US" dirty="0"/>
          </a:p>
        </p:txBody>
      </p:sp>
      <p:graphicFrame>
        <p:nvGraphicFramePr>
          <p:cNvPr id="5" name="ta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783080"/>
          <a:ext cx="96926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371600"/>
                <a:gridCol w="2194560"/>
                <a:gridCol w="1463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 hit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 phishing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Pretexting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+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I,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/ supply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+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Smishing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Quid pro quo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Extortion / blackmail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234440" y="53949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</a:rPr>
              <a:t>C = Confidentiality  ·  I = Integrity  ·  A = Availability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</a:rPr>
              <a:t>Tailgating (15) and vishing (16) excluded - physical and phone, no email form. Several emails are built on the table's own examples: the Main Line Health W-2 case, Patient_Records_Update.exe, the SSN pretext.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 second axis: how the address itself lies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From the phishing-address reference. Independent of the technique - a whaling email can arrive from any of these</a:t>
            </a:r>
            <a:endParaRPr lang="en-US" dirty="0"/>
          </a:p>
        </p:txBody>
      </p:sp>
      <p:graphicFrame>
        <p:nvGraphicFramePr>
          <p:cNvPr id="6" name="add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7259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71597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trick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in the 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lookalike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ashbrook-payroll-alerts.example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forged From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payroll@ashbrookgeneral.example  (the real domain)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claims@health-insure-claims.example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subdomain misdirection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ashbrookgeneral.example.scheduling-alerts.example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typosquat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ashbr00kgeneral.example  ·  ashbrookgenerai.example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medsupply-partners.example.net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hr.benefits.dept@mailbox-provider.example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display-name fraud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"Front Office Manager" &lt;user7392@mail-relay-svc.example&gt;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512064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F3C7E"/>
                </a:solidFill>
              </a:rPr>
              <a:t>Every address stays inside RFC 2606 reserved space (.example, example.net), so no link can ever resolve. The build script asserts this - an unsafe domain cannot be added by mistake.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Per-person history, starting from 0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Every answer is stored with the counters as they stood at that moment, so the movement is auditable</a:t>
            </a:r>
            <a:endParaRPr lang="en-US" dirty="0"/>
          </a:p>
        </p:txBody>
      </p:sp>
      <p:sp>
        <p:nvSpPr>
          <p:cNvPr id="4" name="histcard"/>
          <p:cNvSpPr/>
          <p:nvPr/>
        </p:nvSpPr>
        <p:spPr>
          <a:xfrm>
            <a:off x="640080" y="17830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One stored answer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"n": 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"email_id": "E15",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"cue": "urgency",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"answer": "yes",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"yes": 3,  "no": 2,  "all": 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"p_before": 0.75,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"p_click": 0.60,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"app" }</a:t>
            </a:r>
            <a:endParaRPr lang="en-US" sz="1200" dirty="0"/>
          </a:p>
        </p:txBody>
      </p:sp>
      <p:graphicFrame>
        <p:nvGraphicFramePr>
          <p:cNvPr id="7" name="h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103120"/>
          <a:ext cx="519379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22960"/>
                <a:gridCol w="914400"/>
                <a:gridCol w="685800"/>
                <a:gridCol w="640080"/>
                <a:gridCol w="667512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P(click)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55080" y="4617720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</a:rPr>
              <a:t>yes = did not recognise   ·   no = recognised   ·   all = yes + no   ·   P(click) = yes / all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2578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Saved to data/people_history.json and reloaded on start, so a person's counters accumulate across sessions instead of resetting.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Feedback, built from the history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'Personalized feedback' box in your diagram. Same wrong answer reads differently the first time and the fifth</a:t>
            </a:r>
            <a:endParaRPr lang="en-US" dirty="0"/>
          </a:p>
        </p:txBody>
      </p:sp>
      <p:sp>
        <p:nvSpPr>
          <p:cNvPr id="4" name="fbcard"/>
          <p:cNvSpPr/>
          <p:nvPr/>
        </p:nvSpPr>
        <p:spPr>
          <a:xfrm>
            <a:off x="640080" y="1783080"/>
            <a:ext cx="6492240" cy="3566160"/>
          </a:xfrm>
          <a:prstGeom prst="roundRect">
            <a:avLst>
              <a:gd name="adj" fmla="val 2051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</a:rPr>
              <a:t>That was phishing, and it got you. You did not recognise it.
</a:t>
            </a:r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</a:rPr>
              <a:t>Technique: Phishing
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  - 'Greetings:' - no name, it went to everyone at once
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  - 'Click here' hides the destination - it reads
    ashbrook-hrportal.example
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</a:rPr>
              <a:t>  - Reply-To is outside, though From is the hospital's
</a:t>
            </a:r>
            <a:pPr indent="0" marL="0">
              <a:buNone/>
            </a:pPr>
            <a:r>
              <a:rPr lang="en-US" sz="1200" dirty="0">
                <a:solidFill>
                  <a:srgbClr val="1A1F2E"/>
                </a:solidFill>
              </a:rPr>
              <a:t>Defense: Hover before clicking, MFA, simulated tests
</a:t>
            </a:r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On HR and payroll emails you have now seen 5,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F3C7E"/>
                </a:solidFill>
              </a:rPr>
              <a:t>recognised 2 and clicked 3.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E"/>
                </a:solidFill>
              </a:rPr>
              <a:t>Two sources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</a:rPr>
              <a:t>This email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6334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red_flags and key_defense, read from the dataset - so the explanation is the course's own vocabulary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</a:rPr>
              <a:t>The history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409651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</a:rPr>
              <a:t>how they have done on this cue so far, including streaks worth naming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4846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</a:rPr>
              <a:t>Three modes: none / simple / detailed - so a no-feedback control group can be run later.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The interface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 Streamlit dashboard, five views over the same loop</a:t>
            </a:r>
            <a:endParaRPr lang="en-US" dirty="0"/>
          </a:p>
        </p:txBody>
      </p:sp>
      <p:sp>
        <p:nvSpPr>
          <p:cNvPr id="4" name="tab0"/>
          <p:cNvSpPr/>
          <p:nvPr/>
        </p:nvSpPr>
        <p:spPr>
          <a:xfrm>
            <a:off x="640080" y="178308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</a:rPr>
              <a:t>Dashboard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78308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Who clicks and who knows, across the workforce. Click rate per cue.</a:t>
            </a:r>
            <a:endParaRPr lang="en-US" sz="1300" dirty="0"/>
          </a:p>
        </p:txBody>
      </p:sp>
      <p:sp>
        <p:nvSpPr>
          <p:cNvPr id="7" name="tab1"/>
          <p:cNvSpPr/>
          <p:nvPr/>
        </p:nvSpPr>
        <p:spPr>
          <a:xfrm>
            <a:off x="640080" y="265176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265176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</a:rPr>
              <a:t>Live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65176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Emails arriving one at a time: the email itself, the verdict, and P(click) moving.</a:t>
            </a:r>
            <a:endParaRPr lang="en-US" sz="1300" dirty="0"/>
          </a:p>
        </p:txBody>
      </p:sp>
      <p:sp>
        <p:nvSpPr>
          <p:cNvPr id="10" name="tab2"/>
          <p:cNvSpPr/>
          <p:nvPr/>
        </p:nvSpPr>
        <p:spPr>
          <a:xfrm>
            <a:off x="640080" y="352044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35204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</a:rPr>
              <a:t>Inbox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52044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Answer Yes / No yourself and get the feedback.</a:t>
            </a:r>
            <a:endParaRPr lang="en-US" sz="1300" dirty="0"/>
          </a:p>
        </p:txBody>
      </p:sp>
      <p:sp>
        <p:nvSpPr>
          <p:cNvPr id="13" name="tab3"/>
          <p:cNvSpPr/>
          <p:nvPr/>
        </p:nvSpPr>
        <p:spPr>
          <a:xfrm>
            <a:off x="640080" y="438912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60120" y="438912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</a:rPr>
              <a:t>Person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38912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One person's counters and their full history.</a:t>
            </a:r>
            <a:endParaRPr lang="en-US" sz="1300" dirty="0"/>
          </a:p>
        </p:txBody>
      </p:sp>
      <p:sp>
        <p:nvSpPr>
          <p:cNvPr id="16" name="tab4"/>
          <p:cNvSpPr/>
          <p:nvPr/>
        </p:nvSpPr>
        <p:spPr>
          <a:xfrm>
            <a:off x="640080" y="5257800"/>
            <a:ext cx="1090879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52578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</a:rPr>
              <a:t>Run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525780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</a:rPr>
              <a:t>Drive the loop automatically for one person or everyone.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384048"/>
            <a:ext cx="10908792" cy="65836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Open question: the simulated human</a:t>
            </a:r>
            <a:endParaRPr lang="en-US" dirty="0"/>
          </a:p>
        </p:txBody>
      </p:sp>
      <p:sp>
        <p:nvSpPr>
          <p:cNvPr id="3" name="Text 1"/>
          <p:cNvSpPr/>
          <p:nvPr>
            <p:ph hasCustomPrompt="1"/>
          </p:nvPr>
        </p:nvSpPr>
        <p:spPr>
          <a:xfrm>
            <a:off x="640080" y="1060704"/>
            <a:ext cx="10360152" cy="56692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You said we cannot put anything in. One thing still is, and we want to check before removing it</a:t>
            </a:r>
            <a:endParaRPr lang="en-US" dirty="0"/>
          </a:p>
        </p:txBody>
      </p:sp>
      <p:sp>
        <p:nvSpPr>
          <p:cNvPr id="4" name="openL"/>
          <p:cNvSpPr/>
          <p:nvPr/>
        </p:nvSpPr>
        <p:spPr>
          <a:xfrm>
            <a:off x="640080" y="17830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BF2F3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What is there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Each of the 25 staff carries hidden_probs - a secret click chance per cue, written when the fake workforce was generated.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It exists so a simulated person can act when no real person is available. The model never reads it; only the simulated human does, plus the scripts that grade the model.</a:t>
            </a:r>
            <a:endParaRPr lang="en-US" sz="1250" dirty="0"/>
          </a:p>
        </p:txBody>
      </p:sp>
      <p:sp>
        <p:nvSpPr>
          <p:cNvPr id="7" name="openR"/>
          <p:cNvSpPr/>
          <p:nvPr/>
        </p:nvSpPr>
        <p:spPr>
          <a:xfrm>
            <a:off x="6263640" y="1783080"/>
            <a:ext cx="5285232" cy="3200400"/>
          </a:xfrm>
          <a:prstGeom prst="roundRect">
            <a:avLst>
              <a:gd name="adj" fmla="val 2286"/>
            </a:avLst>
          </a:prstGeom>
          <a:solidFill>
            <a:srgbClr val="F2F4F8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What removing it costs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317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</a:rPr>
              <a:t>Lost: </a:t>
            </a:r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the simulated human, the Live and Run views, and the ability to score the model against a known answer.
</a:t>
            </a:r>
            <a:pPr indent="0" marL="0">
              <a:buNone/>
            </a:pPr>
            <a:r>
              <a:rPr lang="en-US" sz="1250" b="1" dirty="0">
                <a:solidFill>
                  <a:srgbClr val="1A1F2E"/>
                </a:solidFill>
              </a:rPr>
              <a:t>Kept: </a:t>
            </a:r>
            <a:pPr indent="0" marL="0">
              <a:buNone/>
            </a:pPr>
            <a:r>
              <a:rPr lang="en-US" sz="1250" dirty="0">
                <a:solidFill>
                  <a:srgbClr val="1A1F2E"/>
                </a:solidFill>
              </a:rPr>
              <a:t>everything real - the Inbox, the counters, the history, the feedback. None of these ever touched it.</a:t>
            </a:r>
            <a:endParaRPr lang="en-US" sz="1250" dirty="0"/>
          </a:p>
        </p:txBody>
      </p:sp>
      <p:sp>
        <p:nvSpPr>
          <p:cNvPr id="10" name="opennote"/>
          <p:cNvSpPr/>
          <p:nvPr/>
        </p:nvSpPr>
        <p:spPr>
          <a:xfrm>
            <a:off x="640080" y="516636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A1F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F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5166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Our reading: with real people clicking, no assumed numbers are needed - the person is the ground truth. Confirm and we remove it.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276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4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hasCustomPrompt="1"/>
          </p:nvPr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Where it stands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727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8"/>
                </a:solidFill>
              </a:rPr>
              <a:t>Built and working, pending one decision</a:t>
            </a:r>
            <a:endParaRPr lang="en-US" sz="1500" dirty="0"/>
          </a:p>
        </p:txBody>
      </p:sp>
      <p:sp>
        <p:nvSpPr>
          <p:cNvPr id="4" name="n0"/>
          <p:cNvSpPr/>
          <p:nvPr/>
        </p:nvSpPr>
        <p:spPr>
          <a:xfrm>
            <a:off x="640080" y="219456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4140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Done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834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Email set rebuilt on the Weeks 7-8 table. Address tricks tagged. Model matching the diagram. History, feedback, dashboard.</a:t>
            </a:r>
            <a:endParaRPr lang="en-US" sz="1250" dirty="0"/>
          </a:p>
        </p:txBody>
      </p:sp>
      <p:sp>
        <p:nvSpPr>
          <p:cNvPr id="7" name="n1"/>
          <p:cNvSpPr/>
          <p:nvPr/>
        </p:nvSpPr>
        <p:spPr>
          <a:xfrm>
            <a:off x="6355080" y="219456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2552" y="24140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To decide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2834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Whether hidden_probs comes out, and with it the simulated human and the automatic views.</a:t>
            </a:r>
            <a:endParaRPr lang="en-US" sz="1250" dirty="0"/>
          </a:p>
        </p:txBody>
      </p:sp>
      <p:sp>
        <p:nvSpPr>
          <p:cNvPr id="10" name="n2"/>
          <p:cNvSpPr/>
          <p:nvPr/>
        </p:nvSpPr>
        <p:spPr>
          <a:xfrm>
            <a:off x="640080" y="416052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Not built yet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8006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Both LLM steps from the diagram: generating the messages, and generating the feedback and answering questions.</a:t>
            </a:r>
            <a:endParaRPr lang="en-US" sz="1250" dirty="0"/>
          </a:p>
        </p:txBody>
      </p:sp>
      <p:sp>
        <p:nvSpPr>
          <p:cNvPr id="13" name="n3"/>
          <p:cNvSpPr/>
          <p:nvPr/>
        </p:nvSpPr>
        <p:spPr>
          <a:xfrm>
            <a:off x="6355080" y="4160520"/>
            <a:ext cx="5193792" cy="1691640"/>
          </a:xfrm>
          <a:prstGeom prst="roundRect">
            <a:avLst>
              <a:gd name="adj" fmla="val 4324"/>
            </a:avLst>
          </a:prstGeom>
          <a:solidFill>
            <a:srgbClr val="232942"/>
          </a:solidFill>
          <a:ln w="12700">
            <a:solidFill>
              <a:srgbClr val="34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2552" y="43799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15"/>
                </a:solidFill>
              </a:rPr>
              <a:t>Known limitation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48006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8"/>
                </a:solidFill>
              </a:rPr>
              <a:t>With ignoring counted as neither arrow, a person who never reports sits at P(click) = 1.00 regardless of their real rate.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shing Twin">
  <a:themeElements>
    <a:clrScheme name="Phishing Twin">
      <a:dk1>
        <a:srgbClr val="1A1F2E"/>
      </a:dk1>
      <a:lt1>
        <a:srgbClr val="FFFFFF"/>
      </a:lt1>
      <a:dk2>
        <a:srgbClr val="2F3C7E"/>
      </a:dk2>
      <a:lt2>
        <a:srgbClr val="F2F4F8"/>
      </a:lt2>
      <a:accent1>
        <a:srgbClr val="990011"/>
      </a:accent1>
      <a:accent2>
        <a:srgbClr val="2F3C7E"/>
      </a:accent2>
      <a:accent3>
        <a:srgbClr val="0E7C66"/>
      </a:accent3>
      <a:accent4>
        <a:srgbClr val="C8A415"/>
      </a:accent4>
      <a:accent5>
        <a:srgbClr val="5A6478"/>
      </a:accent5>
      <a:accent6>
        <a:srgbClr val="7A1020"/>
      </a:accent6>
      <a:hlink>
        <a:srgbClr val="2F3C7E"/>
      </a:hlink>
      <a:folHlink>
        <a:srgbClr val="5A6478"/>
      </a:folHlink>
    </a:clrScheme>
    <a:fontScheme name="Phishing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Aligning the Simulation to the Course Model</dc:title>
  <dc:subject>PptxGenJS Presentation</dc:subject>
  <dc:creator>Vivek Solanki</dc:creator>
  <cp:lastModifiedBy>Vivek Solanki</cp:lastModifiedBy>
  <cp:revision>1</cp:revision>
  <dcterms:created xsi:type="dcterms:W3CDTF">2026-10-22T19:20:49Z</dcterms:created>
  <dcterms:modified xsi:type="dcterms:W3CDTF">2026-10-22T19:20:49Z</dcterms:modified>
</cp:coreProperties>
</file>